
<file path=[Content_Types].xml><?xml version="1.0" encoding="utf-8"?>
<Types xmlns="http://schemas.openxmlformats.org/package/2006/content-types">
  <Default Extension="glb" ContentType="model/gltf-binary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DARK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microsoft.com/office/2017/06/relationships/model3d" Target="../media/model3d_emblem.glb"/><Relationship Id="rId4" Type="http://schemas.openxmlformats.org/officeDocument/2006/relationships/image" Target="../media/model3d_1_0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microsoft.com/office/2017/06/relationships/model3d" Target="../media/model3d_emblem.glb"/><Relationship Id="rId4" Type="http://schemas.openxmlformats.org/officeDocument/2006/relationships/image" Target="../media/model3d_2_0.png"/><Relationship Id="rId5" Type="http://schemas.microsoft.com/office/2017/06/relationships/model3d" Target="../media/model3d_boot.glb"/><Relationship Id="rId6" Type="http://schemas.openxmlformats.org/officeDocument/2006/relationships/image" Target="../media/model3d_2_1.png"/><Relationship Id="rId7" Type="http://schemas.microsoft.com/office/2017/06/relationships/model3d" Target="../media/model3d_braces.glb"/><Relationship Id="rId8" Type="http://schemas.openxmlformats.org/officeDocument/2006/relationships/image" Target="../media/model3d_2_2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microsoft.com/office/2017/06/relationships/model3d" Target="../media/model3d_boot.glb"/><Relationship Id="rId4" Type="http://schemas.openxmlformats.org/officeDocument/2006/relationships/image" Target="../media/model3d_3_0.png"/><Relationship Id="rId5" Type="http://schemas.microsoft.com/office/2017/06/relationships/model3d" Target="../media/model3d_braces.glb"/><Relationship Id="rId6" Type="http://schemas.openxmlformats.org/officeDocument/2006/relationships/image" Target="../media/model3d_3_1.png"/><Relationship Id="rId7" Type="http://schemas.microsoft.com/office/2017/06/relationships/model3d" Target="../media/model3d_emblem.glb"/><Relationship Id="rId8" Type="http://schemas.openxmlformats.org/officeDocument/2006/relationships/image" Target="../media/model3d_3_2.png"/><Relationship Id="rId9" Type="http://schemas.microsoft.com/office/2017/06/relationships/model3d" Target="../media/model3d_vinyl.glb"/><Relationship Id="rId10" Type="http://schemas.openxmlformats.org/officeDocument/2006/relationships/image" Target="../media/model3d_3_3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microsoft.com/office/2017/06/relationships/model3d" Target="../media/model3d_vinyl.glb"/><Relationship Id="rId4" Type="http://schemas.openxmlformats.org/officeDocument/2006/relationships/image" Target="../media/model3d_4_0.png"/><Relationship Id="rId5" Type="http://schemas.microsoft.com/office/2017/06/relationships/model3d" Target="../media/model3d_emblem.glb"/><Relationship Id="rId6" Type="http://schemas.openxmlformats.org/officeDocument/2006/relationships/image" Target="../media/model3d_4_1.png"/><Relationship Id="rId7" Type="http://schemas.microsoft.com/office/2017/06/relationships/model3d" Target="../media/model3d_boot.glb"/><Relationship Id="rId8" Type="http://schemas.openxmlformats.org/officeDocument/2006/relationships/image" Target="../media/model3d_4_2.png"/><Relationship Id="rId9" Type="http://schemas.microsoft.com/office/2017/06/relationships/model3d" Target="../media/model3d_braces.glb"/><Relationship Id="rId10" Type="http://schemas.openxmlformats.org/officeDocument/2006/relationships/image" Target="../media/model3d_4_3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microsoft.com/office/2017/06/relationships/model3d" Target="../media/model3d_emblem.glb"/><Relationship Id="rId4" Type="http://schemas.openxmlformats.org/officeDocument/2006/relationships/image" Target="../media/model3d_5_0.png"/><Relationship Id="rId5" Type="http://schemas.microsoft.com/office/2017/06/relationships/model3d" Target="../media/model3d_boot.glb"/><Relationship Id="rId6" Type="http://schemas.openxmlformats.org/officeDocument/2006/relationships/image" Target="../media/model3d_5_1.png"/><Relationship Id="rId7" Type="http://schemas.microsoft.com/office/2017/06/relationships/model3d" Target="../media/model3d_braces.glb"/><Relationship Id="rId8" Type="http://schemas.openxmlformats.org/officeDocument/2006/relationships/image" Target="../media/model3d_5_2.png"/><Relationship Id="rId9" Type="http://schemas.microsoft.com/office/2017/06/relationships/model3d" Target="../media/model3d_vinyl.glb"/><Relationship Id="rId10" Type="http://schemas.openxmlformats.org/officeDocument/2006/relationships/image" Target="../media/model3d_5_3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microsoft.com/office/2017/06/relationships/model3d" Target="../media/model3d_boot.glb"/><Relationship Id="rId4" Type="http://schemas.openxmlformats.org/officeDocument/2006/relationships/image" Target="../media/model3d_6_0.png"/><Relationship Id="rId5" Type="http://schemas.microsoft.com/office/2017/06/relationships/model3d" Target="../media/model3d_braces.glb"/><Relationship Id="rId6" Type="http://schemas.openxmlformats.org/officeDocument/2006/relationships/image" Target="../media/model3d_6_1.png"/><Relationship Id="rId7" Type="http://schemas.microsoft.com/office/2017/06/relationships/model3d" Target="../media/model3d_emblem.glb"/><Relationship Id="rId8" Type="http://schemas.openxmlformats.org/officeDocument/2006/relationships/image" Target="../media/model3d_6_2.png"/><Relationship Id="rId9" Type="http://schemas.microsoft.com/office/2017/06/relationships/model3d" Target="../media/model3d_vinyl.glb"/><Relationship Id="rId10" Type="http://schemas.openxmlformats.org/officeDocument/2006/relationships/image" Target="../media/model3d_6_3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microsoft.com/office/2017/06/relationships/model3d" Target="../media/model3d_emblem.glb"/><Relationship Id="rId4" Type="http://schemas.openxmlformats.org/officeDocument/2006/relationships/image" Target="../media/model3d_7_0.png"/><Relationship Id="rId5" Type="http://schemas.microsoft.com/office/2017/06/relationships/model3d" Target="../media/model3d_boot.glb"/><Relationship Id="rId6" Type="http://schemas.openxmlformats.org/officeDocument/2006/relationships/image" Target="../media/model3d_7_1.png"/><Relationship Id="rId7" Type="http://schemas.microsoft.com/office/2017/06/relationships/model3d" Target="../media/model3d_braces.glb"/><Relationship Id="rId8" Type="http://schemas.openxmlformats.org/officeDocument/2006/relationships/image" Target="../media/model3d_7_2.png"/><Relationship Id="rId9" Type="http://schemas.microsoft.com/office/2017/06/relationships/model3d" Target="../media/model3d_vinyl.glb"/><Relationship Id="rId10" Type="http://schemas.openxmlformats.org/officeDocument/2006/relationships/image" Target="../media/model3d_7_3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microsoft.com/office/2017/06/relationships/model3d" Target="../media/model3d_vinyl.glb"/><Relationship Id="rId4" Type="http://schemas.openxmlformats.org/officeDocument/2006/relationships/image" Target="../media/model3d_8_0.png"/><Relationship Id="rId5" Type="http://schemas.microsoft.com/office/2017/06/relationships/model3d" Target="../media/model3d_boot.glb"/><Relationship Id="rId6" Type="http://schemas.openxmlformats.org/officeDocument/2006/relationships/image" Target="../media/model3d_8_1.png"/><Relationship Id="rId7" Type="http://schemas.microsoft.com/office/2017/06/relationships/model3d" Target="../media/model3d_emblem.glb"/><Relationship Id="rId8" Type="http://schemas.openxmlformats.org/officeDocument/2006/relationships/image" Target="../media/model3d_8_2.png"/><Relationship Id="rId9" Type="http://schemas.microsoft.com/office/2017/06/relationships/model3d" Target="../media/model3d_braces.glb"/><Relationship Id="rId10" Type="http://schemas.openxmlformats.org/officeDocument/2006/relationships/image" Target="../media/model3d_8_3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microsoft.com/office/2017/06/relationships/model3d" Target="../media/model3d_emblem.glb"/><Relationship Id="rId4" Type="http://schemas.openxmlformats.org/officeDocument/2006/relationships/image" Target="../media/model3d_9_0.png"/><Relationship Id="rId5" Type="http://schemas.microsoft.com/office/2017/06/relationships/model3d" Target="../media/model3d_boot.glb"/><Relationship Id="rId6" Type="http://schemas.openxmlformats.org/officeDocument/2006/relationships/image" Target="../media/model3d_9_1.png"/><Relationship Id="rId7" Type="http://schemas.microsoft.com/office/2017/06/relationships/model3d" Target="../media/model3d_braces.glb"/><Relationship Id="rId8" Type="http://schemas.openxmlformats.org/officeDocument/2006/relationships/image" Target="../media/model3d_9_2.png"/><Relationship Id="rId9" Type="http://schemas.microsoft.com/office/2017/06/relationships/model3d" Target="../media/model3d_vinyl.glb"/><Relationship Id="rId10" Type="http://schemas.openxmlformats.org/officeDocument/2006/relationships/image" Target="../media/model3d_9_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-brand"/>
          <p:cNvSpPr txBox="1"/>
          <p:nvPr/>
        </p:nvSpPr>
        <p:spPr>
          <a:xfrm>
            <a:off x="548640" y="320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</a:rPr>
              <a:t>СКИНХЕДЫ</a:t>
            </a:r>
            <a:endParaRPr lang="en-US" sz="1000" dirty="0"/>
          </a:p>
        </p:txBody>
      </p:sp>
      <p:sp>
        <p:nvSpPr>
          <p:cNvPr id="3" name="nav-0"/>
          <p:cNvSpPr txBox="1"/>
          <p:nvPr/>
        </p:nvSpPr>
        <p:spPr>
          <a:xfrm>
            <a:off x="3108960" y="320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E7080"/>
                </a:solidFill>
              </a:rPr>
              <a:t>СУБКУЛЬТУРА</a:t>
            </a:r>
            <a:endParaRPr lang="en-US" sz="800" dirty="0"/>
          </a:p>
        </p:txBody>
      </p:sp>
      <p:sp>
        <p:nvSpPr>
          <p:cNvPr id="4" name="nav-1"/>
          <p:cNvSpPr txBox="1"/>
          <p:nvPr/>
        </p:nvSpPr>
        <p:spPr>
          <a:xfrm>
            <a:off x="4526280" y="320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E7080"/>
                </a:solidFill>
              </a:rPr>
              <a:t>ИСТОРИЯ</a:t>
            </a:r>
            <a:endParaRPr lang="en-US" sz="800" dirty="0"/>
          </a:p>
        </p:txBody>
      </p:sp>
      <p:sp>
        <p:nvSpPr>
          <p:cNvPr id="5" name="nav-2"/>
          <p:cNvSpPr txBox="1"/>
          <p:nvPr/>
        </p:nvSpPr>
        <p:spPr>
          <a:xfrm>
            <a:off x="5943600" y="320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E7080"/>
                </a:solidFill>
              </a:rPr>
              <a:t>СТИЛЬ</a:t>
            </a:r>
            <a:endParaRPr lang="en-US" sz="800" dirty="0"/>
          </a:p>
        </p:txBody>
      </p:sp>
      <p:sp>
        <p:nvSpPr>
          <p:cNvPr id="6" name="nav-3"/>
          <p:cNvSpPr txBox="1"/>
          <p:nvPr/>
        </p:nvSpPr>
        <p:spPr>
          <a:xfrm>
            <a:off x="7360920" y="320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E7080"/>
                </a:solidFill>
              </a:rPr>
              <a:t>СЕГОДНЯ</a:t>
            </a:r>
            <a:endParaRPr lang="en-US" sz="800" dirty="0"/>
          </a:p>
        </p:txBody>
      </p:sp>
      <p:sp>
        <p:nvSpPr>
          <p:cNvPr id="7" name="nav-num"/>
          <p:cNvSpPr txBox="1"/>
          <p:nvPr/>
        </p:nvSpPr>
        <p:spPr>
          <a:xfrm>
            <a:off x="11064240" y="320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9B4"/>
                </a:solidFill>
              </a:rPr>
              <a:t>01</a:t>
            </a:r>
            <a:endParaRPr lang="en-US" sz="900" dirty="0"/>
          </a:p>
        </p:txBody>
      </p:sp>
      <p:sp>
        <p:nvSpPr>
          <p:cNvPr id="8" name="title"/>
          <p:cNvSpPr txBox="1"/>
          <p:nvPr/>
        </p:nvSpPr>
        <p:spPr>
          <a:xfrm>
            <a:off x="548640" y="210312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FFFFFF"/>
                </a:solidFill>
                <a:effectLst>
                  <a:glow rad="203200">
                    <a:srgbClr val="C80D3F">
                      <a:alpha val="45000"/>
                    </a:srgbClr>
                  </a:glo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Скинхеды</a:t>
            </a:r>
            <a:endParaRPr lang="en-US" sz="8000" dirty="0"/>
          </a:p>
        </p:txBody>
      </p:sp>
      <p:sp>
        <p:nvSpPr>
          <p:cNvPr id="9" name="subtitle"/>
          <p:cNvSpPr txBox="1"/>
          <p:nvPr/>
        </p:nvSpPr>
        <p:spPr>
          <a:xfrm>
            <a:off x="594360" y="3520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A7A9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история молодёжной субкультуры</a:t>
            </a:r>
            <a:endParaRPr lang="en-US" sz="2200" dirty="0"/>
          </a:p>
        </p:txBody>
      </p:sp>
      <p:sp>
        <p:nvSpPr>
          <p:cNvPr id="10" name="foot"/>
          <p:cNvSpPr txBox="1"/>
          <p:nvPr/>
        </p:nvSpPr>
        <p:spPr>
          <a:xfrm>
            <a:off x="59436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E7080"/>
                </a:solidFill>
              </a:rPr>
              <a:t>Колледж Президентской академии РАНХиГС · 2026</a:t>
            </a:r>
            <a:endParaRPr lang="en-US" sz="1000" dirty="0"/>
          </a:p>
        </p:txBody>
      </p:sp>
      <p:sp>
        <p:nvSpPr>
          <p:cNvPr id="9001" name="!!Ring" descr="Светящееся кольцо"/>
          <p:cNvSpPr/>
          <p:nvPr/>
        </p:nvSpPr>
        <p:spPr>
          <a:xfrm>
            <a:off x="6309360" y="457200"/>
            <a:ext cx="5943600" cy="5943600"/>
          </a:xfrm>
          <a:prstGeom prst="ellipse">
            <a:avLst/>
          </a:prstGeom>
          <a:noFill/>
          <a:ln w="44450">
            <a:solidFill>
              <a:srgbClr val="FFFFFF"/>
            </a:solidFill>
          </a:ln>
          <a:effectLst>
            <a:glow rad="254000">
              <a:srgbClr val="C80D3F">
                <a:alpha val="60000"/>
              </a:srgbClr>
            </a:glow>
          </a:effectLst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9002" name="!!Emblem3D" descr="3D-модель эмблемы Президентской академии"/>
              <p:cNvGraphicFramePr>
                <a:graphicFrameLocks noGrp="1" noChangeAspect="1"/>
              </p:cNvGraphicFramePr>
              <p:nvPr/>
            </p:nvGraphicFramePr>
            <p:xfrm>
              <a:off x="6844284" y="992124"/>
              <a:ext cx="4873752" cy="4873752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6844284" y="992124"/>
                      <a:ext cx="4873752" cy="4873752"/>
                    </a:xfrm>
                    <a:prstGeom prst="rect">
                      <a:avLst/>
                    </a:prstGeom>
                    <a:effectLst>
                      <a:glow rad="127000">
                        <a:srgbClr val="E0244F">
                          <a:alpha val="30000"/>
                        </a:srgbClr>
                      </a:glow>
                    </a:effectLst>
                  </am3d:spPr>
                  <am3d:camera>
                    <am3d:pos x="0" y="0" z="5200000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20400000" az="0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487375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9002" name="!!Emblem3D" descr="3D-модель эмблемы Президентской академии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44284" y="992124"/>
                <a:ext cx="4873752" cy="4873752"/>
              </a:xfrm>
              <a:prstGeom prst="rect">
                <a:avLst/>
              </a:prstGeom>
              <a:effectLst>
                <a:glow rad="127000">
                  <a:srgbClr val="E0244F">
                    <a:alpha val="30000"/>
                  </a:srgbClr>
                </a:glow>
              </a:effectLst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1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2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2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2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2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2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2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-brand"/>
          <p:cNvSpPr txBox="1"/>
          <p:nvPr/>
        </p:nvSpPr>
        <p:spPr>
          <a:xfrm>
            <a:off x="548640" y="320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</a:rPr>
              <a:t>СКИНХЕДЫ</a:t>
            </a:r>
            <a:endParaRPr lang="en-US" sz="1000" dirty="0"/>
          </a:p>
        </p:txBody>
      </p:sp>
      <p:sp>
        <p:nvSpPr>
          <p:cNvPr id="3" name="nav-0"/>
          <p:cNvSpPr txBox="1"/>
          <p:nvPr/>
        </p:nvSpPr>
        <p:spPr>
          <a:xfrm>
            <a:off x="3108960" y="320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FFFFFF"/>
                </a:solidFill>
              </a:rPr>
              <a:t>СУБКУЛЬТУРА</a:t>
            </a:r>
            <a:endParaRPr lang="en-US" sz="800" dirty="0"/>
          </a:p>
        </p:txBody>
      </p:sp>
      <p:sp>
        <p:nvSpPr>
          <p:cNvPr id="4" name="nav-1"/>
          <p:cNvSpPr txBox="1"/>
          <p:nvPr/>
        </p:nvSpPr>
        <p:spPr>
          <a:xfrm>
            <a:off x="4526280" y="320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E7080"/>
                </a:solidFill>
              </a:rPr>
              <a:t>ИСТОРИЯ</a:t>
            </a:r>
            <a:endParaRPr lang="en-US" sz="800" dirty="0"/>
          </a:p>
        </p:txBody>
      </p:sp>
      <p:sp>
        <p:nvSpPr>
          <p:cNvPr id="5" name="nav-2"/>
          <p:cNvSpPr txBox="1"/>
          <p:nvPr/>
        </p:nvSpPr>
        <p:spPr>
          <a:xfrm>
            <a:off x="5943600" y="320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E7080"/>
                </a:solidFill>
              </a:rPr>
              <a:t>СТИЛЬ</a:t>
            </a:r>
            <a:endParaRPr lang="en-US" sz="800" dirty="0"/>
          </a:p>
        </p:txBody>
      </p:sp>
      <p:sp>
        <p:nvSpPr>
          <p:cNvPr id="6" name="nav-3"/>
          <p:cNvSpPr txBox="1"/>
          <p:nvPr/>
        </p:nvSpPr>
        <p:spPr>
          <a:xfrm>
            <a:off x="7360920" y="320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E7080"/>
                </a:solidFill>
              </a:rPr>
              <a:t>СЕГОДНЯ</a:t>
            </a:r>
            <a:endParaRPr lang="en-US" sz="800" dirty="0"/>
          </a:p>
        </p:txBody>
      </p:sp>
      <p:sp>
        <p:nvSpPr>
          <p:cNvPr id="7" name="nav-num"/>
          <p:cNvSpPr txBox="1"/>
          <p:nvPr/>
        </p:nvSpPr>
        <p:spPr>
          <a:xfrm>
            <a:off x="11064240" y="320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9B4"/>
                </a:solidFill>
              </a:rPr>
              <a:t>02</a:t>
            </a:r>
            <a:endParaRPr lang="en-US" sz="900" dirty="0"/>
          </a:p>
        </p:txBody>
      </p:sp>
      <p:sp>
        <p:nvSpPr>
          <p:cNvPr id="8" name="kicker"/>
          <p:cNvSpPr txBox="1"/>
          <p:nvPr/>
        </p:nvSpPr>
        <p:spPr>
          <a:xfrm>
            <a:off x="54864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E0244F"/>
                </a:solidFill>
              </a:rPr>
              <a:t>ТЕКСТ 1</a:t>
            </a:r>
            <a:endParaRPr lang="en-US" sz="900" dirty="0"/>
          </a:p>
        </p:txBody>
      </p:sp>
      <p:sp>
        <p:nvSpPr>
          <p:cNvPr id="9" name="title"/>
          <p:cNvSpPr txBox="1"/>
          <p:nvPr/>
        </p:nvSpPr>
        <p:spPr>
          <a:xfrm>
            <a:off x="548640" y="1737360"/>
            <a:ext cx="5943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400" dirty="0">
                <a:solidFill>
                  <a:srgbClr val="FFFFFF"/>
                </a:solidFill>
                <a:effectLst>
                  <a:glow rad="152400">
                    <a:srgbClr val="C80D3F">
                      <a:alpha val="35000"/>
                    </a:srgbClr>
                  </a:glo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Кто такие</a:t>
            </a:r>
            <a:endParaRPr lang="en-US" sz="4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400" dirty="0">
                <a:solidFill>
                  <a:srgbClr val="FFFFFF"/>
                </a:solidFill>
                <a:effectLst>
                  <a:glow rad="152400">
                    <a:srgbClr val="C80D3F">
                      <a:alpha val="35000"/>
                    </a:srgbClr>
                  </a:glo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скинхеды</a:t>
            </a:r>
            <a:endParaRPr lang="en-US" sz="4400" dirty="0"/>
          </a:p>
        </p:txBody>
      </p:sp>
      <p:sp>
        <p:nvSpPr>
          <p:cNvPr id="10" name="body"/>
          <p:cNvSpPr txBox="1"/>
          <p:nvPr/>
        </p:nvSpPr>
        <p:spPr>
          <a:xfrm>
            <a:off x="548640" y="3657600"/>
            <a:ext cx="5303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A7A9B4"/>
                </a:solidFill>
              </a:rPr>
              <a:t>Скинхеды — представители молодёжной субкультуры, которая появилась в Великобритании в 1960-х годах.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A7A9B4"/>
                </a:solidFill>
              </a:rPr>
              <a:t>Название происходит от английских слов skin — «кожа» и head — «голова».</a:t>
            </a:r>
            <a:endParaRPr lang="en-US" sz="1400" dirty="0"/>
          </a:p>
        </p:txBody>
      </p:sp>
      <p:sp>
        <p:nvSpPr>
          <p:cNvPr id="9001" name="!!Ring" descr="Светящееся кольцо"/>
          <p:cNvSpPr/>
          <p:nvPr/>
        </p:nvSpPr>
        <p:spPr>
          <a:xfrm>
            <a:off x="7040880" y="914400"/>
            <a:ext cx="5120640" cy="5120640"/>
          </a:xfrm>
          <a:prstGeom prst="ellipse">
            <a:avLst/>
          </a:prstGeom>
          <a:noFill/>
          <a:ln w="44450">
            <a:solidFill>
              <a:srgbClr val="FFFFFF"/>
            </a:solidFill>
          </a:ln>
          <a:effectLst>
            <a:glow rad="254000">
              <a:srgbClr val="C80D3F">
                <a:alpha val="60000"/>
              </a:srgbClr>
            </a:glow>
          </a:effectLst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9002" name="!!Emblem3D" descr="3D-модель эмблемы Президентской академии"/>
              <p:cNvGraphicFramePr>
                <a:graphicFrameLocks noGrp="1" noChangeAspect="1"/>
              </p:cNvGraphicFramePr>
              <p:nvPr/>
            </p:nvGraphicFramePr>
            <p:xfrm>
              <a:off x="7501737" y="1375257"/>
              <a:ext cx="4198926" cy="4198926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7501737" y="1375257"/>
                      <a:ext cx="4198926" cy="4198926"/>
                    </a:xfrm>
                    <a:prstGeom prst="rect">
                      <a:avLst/>
                    </a:prstGeom>
                    <a:effectLst>
                      <a:glow rad="127000">
                        <a:srgbClr val="E0244F">
                          <a:alpha val="30000"/>
                        </a:srgbClr>
                      </a:glow>
                    </a:effectLst>
                  </am3d:spPr>
                  <am3d:camera>
                    <am3d:pos x="0" y="0" z="5200000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1800000" az="0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419892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9002" name="!!Emblem3D" descr="3D-модель эмблемы Президентской академии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01737" y="1375257"/>
                <a:ext cx="4198926" cy="4198926"/>
              </a:xfrm>
              <a:prstGeom prst="rect">
                <a:avLst/>
              </a:prstGeom>
              <a:effectLst>
                <a:glow rad="127000">
                  <a:srgbClr val="E0244F">
                    <a:alpha val="30000"/>
                  </a:srgbClr>
                </a:glow>
              </a:effectLst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9012" name="!!Boot3D" descr="3D-модель ботинка с высокой шнуровкой"/>
              <p:cNvGraphicFramePr>
                <a:graphicFrameLocks noGrp="1" noChangeAspect="1"/>
              </p:cNvGraphicFramePr>
              <p:nvPr/>
            </p:nvGraphicFramePr>
            <p:xfrm>
              <a:off x="13903452" y="4942332"/>
              <a:ext cx="3374136" cy="3374136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13903452" y="4942332"/>
                      <a:ext cx="3374136" cy="3374136"/>
                    </a:xfrm>
                    <a:prstGeom prst="rect">
                      <a:avLst/>
                    </a:prstGeom>
                    <a:effectLst>
                      <a:glow rad="127000">
                        <a:srgbClr val="E0244F">
                          <a:alpha val="30000"/>
                        </a:srgbClr>
                      </a:glow>
                    </a:effectLst>
                  </am3d:spPr>
                  <am3d:camera>
                    <am3d:pos x="0" y="0" z="5200000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2400000" ay="9600000" az="1800000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337413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9012" name="!!Boot3D" descr="3D-модель ботинка с высокой шнуровкой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903452" y="4942332"/>
                <a:ext cx="3374136" cy="3374136"/>
              </a:xfrm>
              <a:prstGeom prst="rect">
                <a:avLst/>
              </a:prstGeom>
              <a:effectLst>
                <a:glow rad="127000">
                  <a:srgbClr val="E0244F">
                    <a:alpha val="30000"/>
                  </a:srgbClr>
                </a:glow>
              </a:effectLst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9022" name="!!Braces3D" descr="3D-модель подтяжек"/>
              <p:cNvGraphicFramePr>
                <a:graphicFrameLocks noGrp="1" noChangeAspect="1"/>
              </p:cNvGraphicFramePr>
              <p:nvPr/>
            </p:nvGraphicFramePr>
            <p:xfrm>
              <a:off x="-4242816" y="5358384"/>
              <a:ext cx="2999232" cy="2999232"/>
            </p:xfrm>
            <a:graphic>
              <a:graphicData uri="http://schemas.microsoft.com/office/drawing/2017/model3d">
                <am3d:model3d r:embed="rId7">
                  <am3d:spPr>
                    <a:xfrm>
                      <a:off x="-4242816" y="5358384"/>
                      <a:ext cx="2999232" cy="2999232"/>
                    </a:xfrm>
                    <a:prstGeom prst="rect">
                      <a:avLst/>
                    </a:prstGeom>
                    <a:effectLst>
                      <a:glow rad="127000">
                        <a:srgbClr val="E0244F">
                          <a:alpha val="30000"/>
                        </a:srgbClr>
                      </a:glow>
                    </a:effectLst>
                  </am3d:spPr>
                  <am3d:camera>
                    <am3d:pos x="0" y="0" z="5200000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9800000" ay="12000000" az="20400000"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299923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9022" name="!!Braces3D" descr="3D-модель подтяжек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4242816" y="5358384"/>
                <a:ext cx="2999232" cy="2999232"/>
              </a:xfrm>
              <a:prstGeom prst="rect">
                <a:avLst/>
              </a:prstGeom>
              <a:effectLst>
                <a:glow rad="127000">
                  <a:srgbClr val="E0244F">
                    <a:alpha val="30000"/>
                  </a:srgbClr>
                </a:glow>
              </a:effectLst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1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2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2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2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2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2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2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-brand"/>
          <p:cNvSpPr txBox="1"/>
          <p:nvPr/>
        </p:nvSpPr>
        <p:spPr>
          <a:xfrm>
            <a:off x="548640" y="320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</a:rPr>
              <a:t>СКИНХЕДЫ</a:t>
            </a:r>
            <a:endParaRPr lang="en-US" sz="1000" dirty="0"/>
          </a:p>
        </p:txBody>
      </p:sp>
      <p:sp>
        <p:nvSpPr>
          <p:cNvPr id="3" name="nav-0"/>
          <p:cNvSpPr txBox="1"/>
          <p:nvPr/>
        </p:nvSpPr>
        <p:spPr>
          <a:xfrm>
            <a:off x="3108960" y="320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FFFFFF"/>
                </a:solidFill>
              </a:rPr>
              <a:t>СУБКУЛЬТУРА</a:t>
            </a:r>
            <a:endParaRPr lang="en-US" sz="800" dirty="0"/>
          </a:p>
        </p:txBody>
      </p:sp>
      <p:sp>
        <p:nvSpPr>
          <p:cNvPr id="4" name="nav-1"/>
          <p:cNvSpPr txBox="1"/>
          <p:nvPr/>
        </p:nvSpPr>
        <p:spPr>
          <a:xfrm>
            <a:off x="4526280" y="320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E7080"/>
                </a:solidFill>
              </a:rPr>
              <a:t>ИСТОРИЯ</a:t>
            </a:r>
            <a:endParaRPr lang="en-US" sz="800" dirty="0"/>
          </a:p>
        </p:txBody>
      </p:sp>
      <p:sp>
        <p:nvSpPr>
          <p:cNvPr id="5" name="nav-2"/>
          <p:cNvSpPr txBox="1"/>
          <p:nvPr/>
        </p:nvSpPr>
        <p:spPr>
          <a:xfrm>
            <a:off x="5943600" y="320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E7080"/>
                </a:solidFill>
              </a:rPr>
              <a:t>СТИЛЬ</a:t>
            </a:r>
            <a:endParaRPr lang="en-US" sz="800" dirty="0"/>
          </a:p>
        </p:txBody>
      </p:sp>
      <p:sp>
        <p:nvSpPr>
          <p:cNvPr id="6" name="nav-3"/>
          <p:cNvSpPr txBox="1"/>
          <p:nvPr/>
        </p:nvSpPr>
        <p:spPr>
          <a:xfrm>
            <a:off x="7360920" y="320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E7080"/>
                </a:solidFill>
              </a:rPr>
              <a:t>СЕГОДНЯ</a:t>
            </a:r>
            <a:endParaRPr lang="en-US" sz="800" dirty="0"/>
          </a:p>
        </p:txBody>
      </p:sp>
      <p:sp>
        <p:nvSpPr>
          <p:cNvPr id="7" name="nav-num"/>
          <p:cNvSpPr txBox="1"/>
          <p:nvPr/>
        </p:nvSpPr>
        <p:spPr>
          <a:xfrm>
            <a:off x="11064240" y="320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9B4"/>
                </a:solidFill>
              </a:rPr>
              <a:t>03</a:t>
            </a:r>
            <a:endParaRPr lang="en-US" sz="900" dirty="0"/>
          </a:p>
        </p:txBody>
      </p:sp>
      <p:sp>
        <p:nvSpPr>
          <p:cNvPr id="8" name="kicker"/>
          <p:cNvSpPr txBox="1"/>
          <p:nvPr/>
        </p:nvSpPr>
        <p:spPr>
          <a:xfrm>
            <a:off x="54864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E0244F"/>
                </a:solidFill>
              </a:rPr>
              <a:t>ТЕКСТ 1</a:t>
            </a:r>
            <a:endParaRPr lang="en-US" sz="900" dirty="0"/>
          </a:p>
        </p:txBody>
      </p:sp>
      <p:sp>
        <p:nvSpPr>
          <p:cNvPr id="9" name="title"/>
          <p:cNvSpPr txBox="1"/>
          <p:nvPr/>
        </p:nvSpPr>
        <p:spPr>
          <a:xfrm>
            <a:off x="548640" y="1463040"/>
            <a:ext cx="5943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dirty="0">
                <a:solidFill>
                  <a:srgbClr val="FFFFFF"/>
                </a:solidFill>
                <a:effectLst>
                  <a:glow rad="152400">
                    <a:srgbClr val="C80D3F">
                      <a:alpha val="35000"/>
                    </a:srgbClr>
                  </a:glo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Отличительные</a:t>
            </a:r>
            <a:endParaRPr lang="en-US" sz="4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000" dirty="0">
                <a:solidFill>
                  <a:srgbClr val="FFFFFF"/>
                </a:solidFill>
                <a:effectLst>
                  <a:glow rad="152400">
                    <a:srgbClr val="C80D3F">
                      <a:alpha val="35000"/>
                    </a:srgbClr>
                  </a:glo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черты</a:t>
            </a:r>
            <a:endParaRPr lang="en-US" sz="4000" dirty="0"/>
          </a:p>
        </p:txBody>
      </p:sp>
      <p:sp>
        <p:nvSpPr>
          <p:cNvPr id="10" name="item-0"/>
          <p:cNvSpPr txBox="1"/>
          <p:nvPr/>
        </p:nvSpPr>
        <p:spPr>
          <a:xfrm>
            <a:off x="548640" y="33832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</a:rPr>
              <a:t>Причёска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7A9B4"/>
                </a:solidFill>
              </a:rPr>
              <a:t>Коротко остриженные волосы или бритые головы</a:t>
            </a:r>
            <a:endParaRPr lang="en-US" sz="1500" dirty="0"/>
          </a:p>
        </p:txBody>
      </p:sp>
      <p:sp>
        <p:nvSpPr>
          <p:cNvPr id="11" name="item-1"/>
          <p:cNvSpPr txBox="1"/>
          <p:nvPr/>
        </p:nvSpPr>
        <p:spPr>
          <a:xfrm>
            <a:off x="3566160" y="33832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</a:rPr>
              <a:t>Одежда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7A9B4"/>
                </a:solidFill>
              </a:rPr>
              <a:t>Тяжёлые ботинки, джинсы и куртки</a:t>
            </a:r>
            <a:endParaRPr lang="en-US" sz="1500" dirty="0"/>
          </a:p>
        </p:txBody>
      </p:sp>
      <p:sp>
        <p:nvSpPr>
          <p:cNvPr id="12" name="item-2"/>
          <p:cNvSpPr txBox="1"/>
          <p:nvPr/>
        </p:nvSpPr>
        <p:spPr>
          <a:xfrm>
            <a:off x="548640" y="47091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</a:rPr>
              <a:t>Среда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7A9B4"/>
                </a:solidFill>
              </a:rPr>
              <a:t>Изначально субкультура была связана с рабочей молодёжью</a:t>
            </a:r>
            <a:endParaRPr lang="en-US" sz="1500" dirty="0"/>
          </a:p>
        </p:txBody>
      </p:sp>
      <p:sp>
        <p:nvSpPr>
          <p:cNvPr id="13" name="item-3"/>
          <p:cNvSpPr txBox="1"/>
          <p:nvPr/>
        </p:nvSpPr>
        <p:spPr>
          <a:xfrm>
            <a:off x="3566160" y="47091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</a:rPr>
              <a:t>Музыка и стиль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7A9B4"/>
                </a:solidFill>
              </a:rPr>
              <a:t>Её объединяли музыка и особый стиль одежды</a:t>
            </a:r>
            <a:endParaRPr lang="en-US" sz="1500" dirty="0"/>
          </a:p>
        </p:txBody>
      </p:sp>
      <p:sp>
        <p:nvSpPr>
          <p:cNvPr id="9001" name="!!Ring" descr="Светящееся кольцо"/>
          <p:cNvSpPr/>
          <p:nvPr/>
        </p:nvSpPr>
        <p:spPr>
          <a:xfrm>
            <a:off x="6766560" y="914400"/>
            <a:ext cx="5120640" cy="5120640"/>
          </a:xfrm>
          <a:prstGeom prst="ellipse">
            <a:avLst/>
          </a:prstGeom>
          <a:noFill/>
          <a:ln w="44450">
            <a:solidFill>
              <a:srgbClr val="FFFFFF"/>
            </a:solidFill>
          </a:ln>
          <a:effectLst>
            <a:glow rad="254000">
              <a:srgbClr val="C80D3F">
                <a:alpha val="60000"/>
              </a:srgbClr>
            </a:glow>
          </a:effectLst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9002" name="!!Boot3D" descr="3D-модель ботинка с высокой шнуровкой"/>
              <p:cNvGraphicFramePr>
                <a:graphicFrameLocks noGrp="1" noChangeAspect="1"/>
              </p:cNvGraphicFramePr>
              <p:nvPr/>
            </p:nvGraphicFramePr>
            <p:xfrm>
              <a:off x="7227417" y="1375257"/>
              <a:ext cx="4198926" cy="4198926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7227417" y="1375257"/>
                      <a:ext cx="4198926" cy="4198926"/>
                    </a:xfrm>
                    <a:prstGeom prst="rect">
                      <a:avLst/>
                    </a:prstGeom>
                    <a:effectLst>
                      <a:glow rad="127000">
                        <a:srgbClr val="E0244F">
                          <a:alpha val="30000"/>
                        </a:srgbClr>
                      </a:glow>
                    </a:effectLst>
                  </am3d:spPr>
                  <am3d:camera>
                    <am3d:pos x="0" y="0" z="5200000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19500000" az="0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419892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9002" name="!!Boot3D" descr="3D-модель ботинка с высокой шнуровкой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27417" y="1375257"/>
                <a:ext cx="4198926" cy="4198926"/>
              </a:xfrm>
              <a:prstGeom prst="rect">
                <a:avLst/>
              </a:prstGeom>
              <a:effectLst>
                <a:glow rad="127000">
                  <a:srgbClr val="E0244F">
                    <a:alpha val="30000"/>
                  </a:srgbClr>
                </a:glow>
              </a:effectLst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9012" name="!!Braces3D" descr="3D-модель подтяжек"/>
              <p:cNvGraphicFramePr>
                <a:graphicFrameLocks noGrp="1" noChangeAspect="1"/>
              </p:cNvGraphicFramePr>
              <p:nvPr/>
            </p:nvGraphicFramePr>
            <p:xfrm>
              <a:off x="9789566" y="3754526"/>
              <a:ext cx="2549348" cy="2549348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9789566" y="3754526"/>
                      <a:ext cx="2549348" cy="2549348"/>
                    </a:xfrm>
                    <a:prstGeom prst="rect">
                      <a:avLst/>
                    </a:prstGeom>
                    <a:effectLst>
                      <a:glow rad="127000">
                        <a:srgbClr val="E0244F">
                          <a:alpha val="30000"/>
                        </a:srgbClr>
                      </a:glow>
                    </a:effectLst>
                  </am3d:spPr>
                  <am3d:camera>
                    <am3d:pos x="0" y="0" z="5200000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20000" ay="150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254934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9012" name="!!Braces3D" descr="3D-модель подтяжек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789566" y="3754526"/>
                <a:ext cx="2549348" cy="2549348"/>
              </a:xfrm>
              <a:prstGeom prst="rect">
                <a:avLst/>
              </a:prstGeom>
              <a:effectLst>
                <a:glow rad="127000">
                  <a:srgbClr val="E0244F">
                    <a:alpha val="30000"/>
                  </a:srgbClr>
                </a:glow>
              </a:effectLst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9022" name="!!Emblem3D" descr="3D-модель эмблемы Президентской академии"/>
              <p:cNvGraphicFramePr>
                <a:graphicFrameLocks noGrp="1" noChangeAspect="1"/>
              </p:cNvGraphicFramePr>
              <p:nvPr/>
            </p:nvGraphicFramePr>
            <p:xfrm>
              <a:off x="14666976" y="1408176"/>
              <a:ext cx="4498848" cy="4498848"/>
            </p:xfrm>
            <a:graphic>
              <a:graphicData uri="http://schemas.microsoft.com/office/drawing/2017/model3d">
                <am3d:model3d r:embed="rId7">
                  <am3d:spPr>
                    <a:xfrm>
                      <a:off x="14666976" y="1408176"/>
                      <a:ext cx="4498848" cy="4498848"/>
                    </a:xfrm>
                    <a:prstGeom prst="rect">
                      <a:avLst/>
                    </a:prstGeom>
                    <a:effectLst>
                      <a:glow rad="127000">
                        <a:srgbClr val="E0244F">
                          <a:alpha val="30000"/>
                        </a:srgbClr>
                      </a:glow>
                    </a:effectLst>
                  </am3d:spPr>
                  <am3d:camera>
                    <am3d:pos x="0" y="0" z="5200000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10800000" az="0"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449884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9022" name="!!Emblem3D" descr="3D-модель эмблемы Президентской академии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666976" y="1408176"/>
                <a:ext cx="4498848" cy="4498848"/>
              </a:xfrm>
              <a:prstGeom prst="rect">
                <a:avLst/>
              </a:prstGeom>
              <a:effectLst>
                <a:glow rad="127000">
                  <a:srgbClr val="E0244F">
                    <a:alpha val="30000"/>
                  </a:srgbClr>
                </a:glow>
              </a:effectLst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9032" name="!!Vinyl3D" descr="3D-модель виниловой пластинки ска"/>
              <p:cNvGraphicFramePr>
                <a:graphicFrameLocks noGrp="1" noChangeAspect="1"/>
              </p:cNvGraphicFramePr>
              <p:nvPr/>
            </p:nvGraphicFramePr>
            <p:xfrm>
              <a:off x="8641080" y="-5074920"/>
              <a:ext cx="3749040" cy="3749040"/>
            </p:xfrm>
            <a:graphic>
              <a:graphicData uri="http://schemas.microsoft.com/office/drawing/2017/model3d">
                <am3d:model3d r:embed="rId9">
                  <am3d:spPr>
                    <a:xfrm>
                      <a:off x="8641080" y="-5074920"/>
                      <a:ext cx="3749040" cy="3749040"/>
                    </a:xfrm>
                    <a:prstGeom prst="rect">
                      <a:avLst/>
                    </a:prstGeom>
                    <a:effectLst>
                      <a:glow rad="127000">
                        <a:srgbClr val="E0244F">
                          <a:alpha val="30000"/>
                        </a:srgbClr>
                      </a:glow>
                    </a:effectLst>
                  </am3d:spPr>
                  <am3d:camera>
                    <am3d:pos x="0" y="0" z="5200000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200000" ay="14400000" az="0"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37490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9032" name="!!Vinyl3D" descr="3D-модель виниловой пластинки ска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641080" y="-5074920"/>
                <a:ext cx="3749040" cy="3749040"/>
              </a:xfrm>
              <a:prstGeom prst="rect">
                <a:avLst/>
              </a:prstGeom>
              <a:effectLst>
                <a:glow rad="127000">
                  <a:srgbClr val="E0244F">
                    <a:alpha val="30000"/>
                  </a:srgbClr>
                </a:glow>
              </a:effectLst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1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2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2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2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2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2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2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2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2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12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2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2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2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2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-brand"/>
          <p:cNvSpPr txBox="1"/>
          <p:nvPr/>
        </p:nvSpPr>
        <p:spPr>
          <a:xfrm>
            <a:off x="548640" y="320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</a:rPr>
              <a:t>СКИНХЕДЫ</a:t>
            </a:r>
            <a:endParaRPr lang="en-US" sz="1000" dirty="0"/>
          </a:p>
        </p:txBody>
      </p:sp>
      <p:sp>
        <p:nvSpPr>
          <p:cNvPr id="3" name="nav-0"/>
          <p:cNvSpPr txBox="1"/>
          <p:nvPr/>
        </p:nvSpPr>
        <p:spPr>
          <a:xfrm>
            <a:off x="3108960" y="320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E7080"/>
                </a:solidFill>
              </a:rPr>
              <a:t>СУБКУЛЬТУРА</a:t>
            </a:r>
            <a:endParaRPr lang="en-US" sz="800" dirty="0"/>
          </a:p>
        </p:txBody>
      </p:sp>
      <p:sp>
        <p:nvSpPr>
          <p:cNvPr id="4" name="nav-1"/>
          <p:cNvSpPr txBox="1"/>
          <p:nvPr/>
        </p:nvSpPr>
        <p:spPr>
          <a:xfrm>
            <a:off x="4526280" y="320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FFFFFF"/>
                </a:solidFill>
              </a:rPr>
              <a:t>ИСТОРИЯ</a:t>
            </a:r>
            <a:endParaRPr lang="en-US" sz="800" dirty="0"/>
          </a:p>
        </p:txBody>
      </p:sp>
      <p:sp>
        <p:nvSpPr>
          <p:cNvPr id="5" name="nav-2"/>
          <p:cNvSpPr txBox="1"/>
          <p:nvPr/>
        </p:nvSpPr>
        <p:spPr>
          <a:xfrm>
            <a:off x="5943600" y="320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E7080"/>
                </a:solidFill>
              </a:rPr>
              <a:t>СТИЛЬ</a:t>
            </a:r>
            <a:endParaRPr lang="en-US" sz="800" dirty="0"/>
          </a:p>
        </p:txBody>
      </p:sp>
      <p:sp>
        <p:nvSpPr>
          <p:cNvPr id="6" name="nav-3"/>
          <p:cNvSpPr txBox="1"/>
          <p:nvPr/>
        </p:nvSpPr>
        <p:spPr>
          <a:xfrm>
            <a:off x="7360920" y="320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E7080"/>
                </a:solidFill>
              </a:rPr>
              <a:t>СЕГОДНЯ</a:t>
            </a:r>
            <a:endParaRPr lang="en-US" sz="800" dirty="0"/>
          </a:p>
        </p:txBody>
      </p:sp>
      <p:sp>
        <p:nvSpPr>
          <p:cNvPr id="7" name="nav-num"/>
          <p:cNvSpPr txBox="1"/>
          <p:nvPr/>
        </p:nvSpPr>
        <p:spPr>
          <a:xfrm>
            <a:off x="11064240" y="320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9B4"/>
                </a:solidFill>
              </a:rPr>
              <a:t>04</a:t>
            </a:r>
            <a:endParaRPr lang="en-US" sz="900" dirty="0"/>
          </a:p>
        </p:txBody>
      </p:sp>
      <p:sp>
        <p:nvSpPr>
          <p:cNvPr id="8" name="kicker"/>
          <p:cNvSpPr txBox="1"/>
          <p:nvPr/>
        </p:nvSpPr>
        <p:spPr>
          <a:xfrm>
            <a:off x="54864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E0244F"/>
                </a:solidFill>
              </a:rPr>
              <a:t>ТЕКСТ 2</a:t>
            </a:r>
            <a:endParaRPr lang="en-US" sz="900" dirty="0"/>
          </a:p>
        </p:txBody>
      </p:sp>
      <p:sp>
        <p:nvSpPr>
          <p:cNvPr id="9" name="title"/>
          <p:cNvSpPr txBox="1"/>
          <p:nvPr/>
        </p:nvSpPr>
        <p:spPr>
          <a:xfrm>
            <a:off x="548640" y="1737360"/>
            <a:ext cx="5943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400" dirty="0">
                <a:solidFill>
                  <a:srgbClr val="FFFFFF"/>
                </a:solidFill>
                <a:effectLst>
                  <a:glow rad="152400">
                    <a:srgbClr val="C80D3F">
                      <a:alpha val="35000"/>
                    </a:srgbClr>
                  </a:glo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История</a:t>
            </a:r>
            <a:endParaRPr lang="en-US" sz="4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400" dirty="0">
                <a:solidFill>
                  <a:srgbClr val="FFFFFF"/>
                </a:solidFill>
                <a:effectLst>
                  <a:glow rad="152400">
                    <a:srgbClr val="C80D3F">
                      <a:alpha val="35000"/>
                    </a:srgbClr>
                  </a:glo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возникновения</a:t>
            </a:r>
            <a:endParaRPr lang="en-US" sz="4400" dirty="0"/>
          </a:p>
        </p:txBody>
      </p:sp>
      <p:sp>
        <p:nvSpPr>
          <p:cNvPr id="10" name="body"/>
          <p:cNvSpPr txBox="1"/>
          <p:nvPr/>
        </p:nvSpPr>
        <p:spPr>
          <a:xfrm>
            <a:off x="548640" y="3657600"/>
            <a:ext cx="5303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A7A9B4"/>
                </a:solidFill>
              </a:rPr>
              <a:t>Скинхед-движение возникло в Великобритании среди молодых людей из рабочего класса.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A7A9B4"/>
                </a:solidFill>
              </a:rPr>
              <a:t>На его формирование повлияли ямайская музыка, особенно ска и регги, а также британская уличная культура.</a:t>
            </a:r>
            <a:endParaRPr lang="en-US" sz="1400" dirty="0"/>
          </a:p>
        </p:txBody>
      </p:sp>
      <p:sp>
        <p:nvSpPr>
          <p:cNvPr id="9001" name="!!Ring" descr="Светящееся кольцо"/>
          <p:cNvSpPr/>
          <p:nvPr/>
        </p:nvSpPr>
        <p:spPr>
          <a:xfrm>
            <a:off x="6949440" y="914400"/>
            <a:ext cx="5120640" cy="5120640"/>
          </a:xfrm>
          <a:prstGeom prst="ellipse">
            <a:avLst/>
          </a:prstGeom>
          <a:noFill/>
          <a:ln w="44450">
            <a:solidFill>
              <a:srgbClr val="FFFFFF"/>
            </a:solidFill>
          </a:ln>
          <a:effectLst>
            <a:glow rad="254000">
              <a:srgbClr val="C80D3F">
                <a:alpha val="60000"/>
              </a:srgbClr>
            </a:glow>
          </a:effectLst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9002" name="!!Vinyl3D" descr="3D-модель виниловой пластинки ска"/>
              <p:cNvGraphicFramePr>
                <a:graphicFrameLocks noGrp="1" noChangeAspect="1"/>
              </p:cNvGraphicFramePr>
              <p:nvPr/>
            </p:nvGraphicFramePr>
            <p:xfrm>
              <a:off x="7410297" y="1375257"/>
              <a:ext cx="4198926" cy="4198926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7410297" y="1375257"/>
                      <a:ext cx="4198926" cy="4198926"/>
                    </a:xfrm>
                    <a:prstGeom prst="rect">
                      <a:avLst/>
                    </a:prstGeom>
                    <a:effectLst>
                      <a:glow rad="127000">
                        <a:srgbClr val="E0244F">
                          <a:alpha val="30000"/>
                        </a:srgbClr>
                      </a:glow>
                    </a:effectLst>
                  </am3d:spPr>
                  <am3d:camera>
                    <am3d:pos x="0" y="0" z="5200000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9800000" ay="1500000" az="0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419892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9002" name="!!Vinyl3D" descr="3D-модель виниловой пластинки ска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10297" y="1375257"/>
                <a:ext cx="4198926" cy="4198926"/>
              </a:xfrm>
              <a:prstGeom prst="rect">
                <a:avLst/>
              </a:prstGeom>
              <a:effectLst>
                <a:glow rad="127000">
                  <a:srgbClr val="E0244F">
                    <a:alpha val="30000"/>
                  </a:srgbClr>
                </a:glow>
              </a:effectLst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9012" name="!!Emblem3D" descr="3D-модель эмблемы Президентской академии"/>
              <p:cNvGraphicFramePr>
                <a:graphicFrameLocks noGrp="1" noChangeAspect="1"/>
              </p:cNvGraphicFramePr>
              <p:nvPr/>
            </p:nvGraphicFramePr>
            <p:xfrm>
              <a:off x="14666976" y="1408176"/>
              <a:ext cx="4498848" cy="4498848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14666976" y="1408176"/>
                      <a:ext cx="4498848" cy="4498848"/>
                    </a:xfrm>
                    <a:prstGeom prst="rect">
                      <a:avLst/>
                    </a:prstGeom>
                    <a:effectLst>
                      <a:glow rad="127000">
                        <a:srgbClr val="E0244F">
                          <a:alpha val="30000"/>
                        </a:srgbClr>
                      </a:glow>
                    </a:effectLst>
                  </am3d:spPr>
                  <am3d:camera>
                    <am3d:pos x="0" y="0" z="5200000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1080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449884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9012" name="!!Emblem3D" descr="3D-модель эмблемы Президентской академии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666976" y="1408176"/>
                <a:ext cx="4498848" cy="4498848"/>
              </a:xfrm>
              <a:prstGeom prst="rect">
                <a:avLst/>
              </a:prstGeom>
              <a:effectLst>
                <a:glow rad="127000">
                  <a:srgbClr val="E0244F">
                    <a:alpha val="30000"/>
                  </a:srgbClr>
                </a:glow>
              </a:effectLst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9022" name="!!Boot3D" descr="3D-модель ботинка с высокой шнуровкой"/>
              <p:cNvGraphicFramePr>
                <a:graphicFrameLocks noGrp="1" noChangeAspect="1"/>
              </p:cNvGraphicFramePr>
              <p:nvPr/>
            </p:nvGraphicFramePr>
            <p:xfrm>
              <a:off x="13903452" y="4942332"/>
              <a:ext cx="3374136" cy="3374136"/>
            </p:xfrm>
            <a:graphic>
              <a:graphicData uri="http://schemas.microsoft.com/office/drawing/2017/model3d">
                <am3d:model3d r:embed="rId7">
                  <am3d:spPr>
                    <a:xfrm>
                      <a:off x="13903452" y="4942332"/>
                      <a:ext cx="3374136" cy="3374136"/>
                    </a:xfrm>
                    <a:prstGeom prst="rect">
                      <a:avLst/>
                    </a:prstGeom>
                    <a:effectLst>
                      <a:glow rad="127000">
                        <a:srgbClr val="E0244F">
                          <a:alpha val="30000"/>
                        </a:srgbClr>
                      </a:glow>
                    </a:effectLst>
                  </am3d:spPr>
                  <am3d:camera>
                    <am3d:pos x="0" y="0" z="5200000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2400000" ay="9600000" az="1800000"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337413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9022" name="!!Boot3D" descr="3D-модель ботинка с высокой шнуровкой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903452" y="4942332"/>
                <a:ext cx="3374136" cy="3374136"/>
              </a:xfrm>
              <a:prstGeom prst="rect">
                <a:avLst/>
              </a:prstGeom>
              <a:effectLst>
                <a:glow rad="127000">
                  <a:srgbClr val="E0244F">
                    <a:alpha val="30000"/>
                  </a:srgbClr>
                </a:glow>
              </a:effectLst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9032" name="!!Braces3D" descr="3D-модель подтяжек"/>
              <p:cNvGraphicFramePr>
                <a:graphicFrameLocks noGrp="1" noChangeAspect="1"/>
              </p:cNvGraphicFramePr>
              <p:nvPr/>
            </p:nvGraphicFramePr>
            <p:xfrm>
              <a:off x="-4242816" y="5358384"/>
              <a:ext cx="2999232" cy="2999232"/>
            </p:xfrm>
            <a:graphic>
              <a:graphicData uri="http://schemas.microsoft.com/office/drawing/2017/model3d">
                <am3d:model3d r:embed="rId9">
                  <am3d:spPr>
                    <a:xfrm>
                      <a:off x="-4242816" y="5358384"/>
                      <a:ext cx="2999232" cy="2999232"/>
                    </a:xfrm>
                    <a:prstGeom prst="rect">
                      <a:avLst/>
                    </a:prstGeom>
                    <a:effectLst>
                      <a:glow rad="127000">
                        <a:srgbClr val="E0244F">
                          <a:alpha val="30000"/>
                        </a:srgbClr>
                      </a:glow>
                    </a:effectLst>
                  </am3d:spPr>
                  <am3d:camera>
                    <am3d:pos x="0" y="0" z="5200000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9800000" ay="12000000" az="20400000"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299923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9032" name="!!Braces3D" descr="3D-модель подтяжек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4242816" y="5358384"/>
                <a:ext cx="2999232" cy="2999232"/>
              </a:xfrm>
              <a:prstGeom prst="rect">
                <a:avLst/>
              </a:prstGeom>
              <a:effectLst>
                <a:glow rad="127000">
                  <a:srgbClr val="E0244F">
                    <a:alpha val="30000"/>
                  </a:srgbClr>
                </a:glow>
              </a:effectLst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1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2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2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2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2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2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2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-brand"/>
          <p:cNvSpPr txBox="1"/>
          <p:nvPr/>
        </p:nvSpPr>
        <p:spPr>
          <a:xfrm>
            <a:off x="548640" y="320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</a:rPr>
              <a:t>СКИНХЕДЫ</a:t>
            </a:r>
            <a:endParaRPr lang="en-US" sz="1000" dirty="0"/>
          </a:p>
        </p:txBody>
      </p:sp>
      <p:sp>
        <p:nvSpPr>
          <p:cNvPr id="3" name="nav-0"/>
          <p:cNvSpPr txBox="1"/>
          <p:nvPr/>
        </p:nvSpPr>
        <p:spPr>
          <a:xfrm>
            <a:off x="3108960" y="320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E7080"/>
                </a:solidFill>
              </a:rPr>
              <a:t>СУБКУЛЬТУРА</a:t>
            </a:r>
            <a:endParaRPr lang="en-US" sz="800" dirty="0"/>
          </a:p>
        </p:txBody>
      </p:sp>
      <p:sp>
        <p:nvSpPr>
          <p:cNvPr id="4" name="nav-1"/>
          <p:cNvSpPr txBox="1"/>
          <p:nvPr/>
        </p:nvSpPr>
        <p:spPr>
          <a:xfrm>
            <a:off x="4526280" y="320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FFFFFF"/>
                </a:solidFill>
              </a:rPr>
              <a:t>ИСТОРИЯ</a:t>
            </a:r>
            <a:endParaRPr lang="en-US" sz="800" dirty="0"/>
          </a:p>
        </p:txBody>
      </p:sp>
      <p:sp>
        <p:nvSpPr>
          <p:cNvPr id="5" name="nav-2"/>
          <p:cNvSpPr txBox="1"/>
          <p:nvPr/>
        </p:nvSpPr>
        <p:spPr>
          <a:xfrm>
            <a:off x="5943600" y="320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E7080"/>
                </a:solidFill>
              </a:rPr>
              <a:t>СТИЛЬ</a:t>
            </a:r>
            <a:endParaRPr lang="en-US" sz="800" dirty="0"/>
          </a:p>
        </p:txBody>
      </p:sp>
      <p:sp>
        <p:nvSpPr>
          <p:cNvPr id="6" name="nav-3"/>
          <p:cNvSpPr txBox="1"/>
          <p:nvPr/>
        </p:nvSpPr>
        <p:spPr>
          <a:xfrm>
            <a:off x="7360920" y="320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E7080"/>
                </a:solidFill>
              </a:rPr>
              <a:t>СЕГОДНЯ</a:t>
            </a:r>
            <a:endParaRPr lang="en-US" sz="800" dirty="0"/>
          </a:p>
        </p:txBody>
      </p:sp>
      <p:sp>
        <p:nvSpPr>
          <p:cNvPr id="7" name="nav-num"/>
          <p:cNvSpPr txBox="1"/>
          <p:nvPr/>
        </p:nvSpPr>
        <p:spPr>
          <a:xfrm>
            <a:off x="11064240" y="320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9B4"/>
                </a:solidFill>
              </a:rPr>
              <a:t>05</a:t>
            </a:r>
            <a:endParaRPr lang="en-US" sz="900" dirty="0"/>
          </a:p>
        </p:txBody>
      </p:sp>
      <p:sp>
        <p:nvSpPr>
          <p:cNvPr id="8" name="kicker"/>
          <p:cNvSpPr txBox="1"/>
          <p:nvPr/>
        </p:nvSpPr>
        <p:spPr>
          <a:xfrm>
            <a:off x="630936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E0244F"/>
                </a:solidFill>
              </a:rPr>
              <a:t>ТЕКСТ 2</a:t>
            </a:r>
            <a:endParaRPr lang="en-US" sz="900" dirty="0"/>
          </a:p>
        </p:txBody>
      </p:sp>
      <p:sp>
        <p:nvSpPr>
          <p:cNvPr id="9" name="title"/>
          <p:cNvSpPr txBox="1"/>
          <p:nvPr/>
        </p:nvSpPr>
        <p:spPr>
          <a:xfrm>
            <a:off x="6309360" y="173736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400" dirty="0">
                <a:solidFill>
                  <a:srgbClr val="FFFFFF"/>
                </a:solidFill>
                <a:effectLst>
                  <a:glow rad="152400">
                    <a:srgbClr val="C80D3F">
                      <a:alpha val="35000"/>
                    </a:srgbClr>
                  </a:glo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Как менялось</a:t>
            </a:r>
            <a:endParaRPr lang="en-US" sz="4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400" dirty="0">
                <a:solidFill>
                  <a:srgbClr val="FFFFFF"/>
                </a:solidFill>
                <a:effectLst>
                  <a:glow rad="152400">
                    <a:srgbClr val="C80D3F">
                      <a:alpha val="35000"/>
                    </a:srgbClr>
                  </a:glo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движение</a:t>
            </a:r>
            <a:endParaRPr lang="en-US" sz="4400" dirty="0"/>
          </a:p>
        </p:txBody>
      </p:sp>
      <p:sp>
        <p:nvSpPr>
          <p:cNvPr id="10" name="body"/>
          <p:cNvSpPr txBox="1"/>
          <p:nvPr/>
        </p:nvSpPr>
        <p:spPr>
          <a:xfrm>
            <a:off x="6309360" y="3657600"/>
            <a:ext cx="5303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A7A9B4"/>
                </a:solidFill>
              </a:rPr>
              <a:t>Первые скинхеды не обязательно придерживались расистских или политических взглядов.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A7A9B4"/>
                </a:solidFill>
              </a:rPr>
              <a:t>Со временем движение стало разнообразным: одни участники сохранили первоначальные традиции, другие начали связывать себя с различными политическими направлениями.</a:t>
            </a:r>
            <a:endParaRPr lang="en-US" sz="1400" dirty="0"/>
          </a:p>
        </p:txBody>
      </p:sp>
      <p:sp>
        <p:nvSpPr>
          <p:cNvPr id="9001" name="!!Ring" descr="Светящееся кольцо"/>
          <p:cNvSpPr/>
          <p:nvPr/>
        </p:nvSpPr>
        <p:spPr>
          <a:xfrm>
            <a:off x="548640" y="914400"/>
            <a:ext cx="5120640" cy="5120640"/>
          </a:xfrm>
          <a:prstGeom prst="ellipse">
            <a:avLst/>
          </a:prstGeom>
          <a:noFill/>
          <a:ln w="44450">
            <a:solidFill>
              <a:srgbClr val="FFFFFF"/>
            </a:solidFill>
          </a:ln>
          <a:effectLst>
            <a:glow rad="254000">
              <a:srgbClr val="C80D3F">
                <a:alpha val="60000"/>
              </a:srgbClr>
            </a:glow>
          </a:effectLst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9002" name="!!Emblem3D" descr="3D-модель эмблемы Президентской академии"/>
              <p:cNvGraphicFramePr>
                <a:graphicFrameLocks noGrp="1" noChangeAspect="1"/>
              </p:cNvGraphicFramePr>
              <p:nvPr/>
            </p:nvGraphicFramePr>
            <p:xfrm>
              <a:off x="1009497" y="1375257"/>
              <a:ext cx="4198926" cy="4198926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1009497" y="1375257"/>
                      <a:ext cx="4198926" cy="4198926"/>
                    </a:xfrm>
                    <a:prstGeom prst="rect">
                      <a:avLst/>
                    </a:prstGeom>
                    <a:effectLst>
                      <a:glow rad="127000">
                        <a:srgbClr val="E0244F">
                          <a:alpha val="30000"/>
                        </a:srgbClr>
                      </a:glow>
                    </a:effectLst>
                  </am3d:spPr>
                  <am3d:camera>
                    <am3d:pos x="0" y="0" z="5200000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19500000" az="0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419892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9002" name="!!Emblem3D" descr="3D-модель эмблемы Президентской академии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9497" y="1375257"/>
                <a:ext cx="4198926" cy="4198926"/>
              </a:xfrm>
              <a:prstGeom prst="rect">
                <a:avLst/>
              </a:prstGeom>
              <a:effectLst>
                <a:glow rad="127000">
                  <a:srgbClr val="E0244F">
                    <a:alpha val="30000"/>
                  </a:srgbClr>
                </a:glow>
              </a:effectLst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9012" name="!!Boot3D" descr="3D-модель ботинка с высокой шнуровкой"/>
              <p:cNvGraphicFramePr>
                <a:graphicFrameLocks noGrp="1" noChangeAspect="1"/>
              </p:cNvGraphicFramePr>
              <p:nvPr/>
            </p:nvGraphicFramePr>
            <p:xfrm>
              <a:off x="13903452" y="4942332"/>
              <a:ext cx="3374136" cy="3374136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13903452" y="4942332"/>
                      <a:ext cx="3374136" cy="3374136"/>
                    </a:xfrm>
                    <a:prstGeom prst="rect">
                      <a:avLst/>
                    </a:prstGeom>
                    <a:effectLst>
                      <a:glow rad="127000">
                        <a:srgbClr val="E0244F">
                          <a:alpha val="30000"/>
                        </a:srgbClr>
                      </a:glow>
                    </a:effectLst>
                  </am3d:spPr>
                  <am3d:camera>
                    <am3d:pos x="0" y="0" z="5200000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2400000" ay="9600000" az="1800000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337413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9012" name="!!Boot3D" descr="3D-модель ботинка с высокой шнуровкой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903452" y="4942332"/>
                <a:ext cx="3374136" cy="3374136"/>
              </a:xfrm>
              <a:prstGeom prst="rect">
                <a:avLst/>
              </a:prstGeom>
              <a:effectLst>
                <a:glow rad="127000">
                  <a:srgbClr val="E0244F">
                    <a:alpha val="30000"/>
                  </a:srgbClr>
                </a:glow>
              </a:effectLst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9022" name="!!Braces3D" descr="3D-модель подтяжек"/>
              <p:cNvGraphicFramePr>
                <a:graphicFrameLocks noGrp="1" noChangeAspect="1"/>
              </p:cNvGraphicFramePr>
              <p:nvPr/>
            </p:nvGraphicFramePr>
            <p:xfrm>
              <a:off x="-4242816" y="5358384"/>
              <a:ext cx="2999232" cy="2999232"/>
            </p:xfrm>
            <a:graphic>
              <a:graphicData uri="http://schemas.microsoft.com/office/drawing/2017/model3d">
                <am3d:model3d r:embed="rId7">
                  <am3d:spPr>
                    <a:xfrm>
                      <a:off x="-4242816" y="5358384"/>
                      <a:ext cx="2999232" cy="2999232"/>
                    </a:xfrm>
                    <a:prstGeom prst="rect">
                      <a:avLst/>
                    </a:prstGeom>
                    <a:effectLst>
                      <a:glow rad="127000">
                        <a:srgbClr val="E0244F">
                          <a:alpha val="30000"/>
                        </a:srgbClr>
                      </a:glow>
                    </a:effectLst>
                  </am3d:spPr>
                  <am3d:camera>
                    <am3d:pos x="0" y="0" z="5200000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9800000" ay="12000000" az="20400000"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299923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9022" name="!!Braces3D" descr="3D-модель подтяжек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4242816" y="5358384"/>
                <a:ext cx="2999232" cy="2999232"/>
              </a:xfrm>
              <a:prstGeom prst="rect">
                <a:avLst/>
              </a:prstGeom>
              <a:effectLst>
                <a:glow rad="127000">
                  <a:srgbClr val="E0244F">
                    <a:alpha val="30000"/>
                  </a:srgbClr>
                </a:glow>
              </a:effectLst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9032" name="!!Vinyl3D" descr="3D-модель виниловой пластинки ска"/>
              <p:cNvGraphicFramePr>
                <a:graphicFrameLocks noGrp="1" noChangeAspect="1"/>
              </p:cNvGraphicFramePr>
              <p:nvPr/>
            </p:nvGraphicFramePr>
            <p:xfrm>
              <a:off x="8641080" y="-5074920"/>
              <a:ext cx="3749040" cy="3749040"/>
            </p:xfrm>
            <a:graphic>
              <a:graphicData uri="http://schemas.microsoft.com/office/drawing/2017/model3d">
                <am3d:model3d r:embed="rId9">
                  <am3d:spPr>
                    <a:xfrm>
                      <a:off x="8641080" y="-5074920"/>
                      <a:ext cx="3749040" cy="3749040"/>
                    </a:xfrm>
                    <a:prstGeom prst="rect">
                      <a:avLst/>
                    </a:prstGeom>
                    <a:effectLst>
                      <a:glow rad="127000">
                        <a:srgbClr val="E0244F">
                          <a:alpha val="30000"/>
                        </a:srgbClr>
                      </a:glow>
                    </a:effectLst>
                  </am3d:spPr>
                  <am3d:camera>
                    <am3d:pos x="0" y="0" z="5200000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200000" ay="14400000" az="0"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37490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9032" name="!!Vinyl3D" descr="3D-модель виниловой пластинки ска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641080" y="-5074920"/>
                <a:ext cx="3749040" cy="3749040"/>
              </a:xfrm>
              <a:prstGeom prst="rect">
                <a:avLst/>
              </a:prstGeom>
              <a:effectLst>
                <a:glow rad="127000">
                  <a:srgbClr val="E0244F">
                    <a:alpha val="30000"/>
                  </a:srgbClr>
                </a:glow>
              </a:effectLst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1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2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2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2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2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2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2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-brand"/>
          <p:cNvSpPr txBox="1"/>
          <p:nvPr/>
        </p:nvSpPr>
        <p:spPr>
          <a:xfrm>
            <a:off x="548640" y="320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</a:rPr>
              <a:t>СКИНХЕДЫ</a:t>
            </a:r>
            <a:endParaRPr lang="en-US" sz="1000" dirty="0"/>
          </a:p>
        </p:txBody>
      </p:sp>
      <p:sp>
        <p:nvSpPr>
          <p:cNvPr id="3" name="nav-0"/>
          <p:cNvSpPr txBox="1"/>
          <p:nvPr/>
        </p:nvSpPr>
        <p:spPr>
          <a:xfrm>
            <a:off x="3108960" y="320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E7080"/>
                </a:solidFill>
              </a:rPr>
              <a:t>СУБКУЛЬТУРА</a:t>
            </a:r>
            <a:endParaRPr lang="en-US" sz="800" dirty="0"/>
          </a:p>
        </p:txBody>
      </p:sp>
      <p:sp>
        <p:nvSpPr>
          <p:cNvPr id="4" name="nav-1"/>
          <p:cNvSpPr txBox="1"/>
          <p:nvPr/>
        </p:nvSpPr>
        <p:spPr>
          <a:xfrm>
            <a:off x="4526280" y="320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E7080"/>
                </a:solidFill>
              </a:rPr>
              <a:t>ИСТОРИЯ</a:t>
            </a:r>
            <a:endParaRPr lang="en-US" sz="800" dirty="0"/>
          </a:p>
        </p:txBody>
      </p:sp>
      <p:sp>
        <p:nvSpPr>
          <p:cNvPr id="5" name="nav-2"/>
          <p:cNvSpPr txBox="1"/>
          <p:nvPr/>
        </p:nvSpPr>
        <p:spPr>
          <a:xfrm>
            <a:off x="5943600" y="320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FFFFFF"/>
                </a:solidFill>
              </a:rPr>
              <a:t>СТИЛЬ</a:t>
            </a:r>
            <a:endParaRPr lang="en-US" sz="800" dirty="0"/>
          </a:p>
        </p:txBody>
      </p:sp>
      <p:sp>
        <p:nvSpPr>
          <p:cNvPr id="6" name="nav-3"/>
          <p:cNvSpPr txBox="1"/>
          <p:nvPr/>
        </p:nvSpPr>
        <p:spPr>
          <a:xfrm>
            <a:off x="7360920" y="320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E7080"/>
                </a:solidFill>
              </a:rPr>
              <a:t>СЕГОДНЯ</a:t>
            </a:r>
            <a:endParaRPr lang="en-US" sz="800" dirty="0"/>
          </a:p>
        </p:txBody>
      </p:sp>
      <p:sp>
        <p:nvSpPr>
          <p:cNvPr id="7" name="nav-num"/>
          <p:cNvSpPr txBox="1"/>
          <p:nvPr/>
        </p:nvSpPr>
        <p:spPr>
          <a:xfrm>
            <a:off x="11064240" y="320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9B4"/>
                </a:solidFill>
              </a:rPr>
              <a:t>06</a:t>
            </a:r>
            <a:endParaRPr lang="en-US" sz="900" dirty="0"/>
          </a:p>
        </p:txBody>
      </p:sp>
      <p:sp>
        <p:nvSpPr>
          <p:cNvPr id="8" name="kicker"/>
          <p:cNvSpPr txBox="1"/>
          <p:nvPr/>
        </p:nvSpPr>
        <p:spPr>
          <a:xfrm>
            <a:off x="658368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E0244F"/>
                </a:solidFill>
              </a:rPr>
              <a:t>ТЕКСТ 3</a:t>
            </a:r>
            <a:endParaRPr lang="en-US" sz="900" dirty="0"/>
          </a:p>
        </p:txBody>
      </p:sp>
      <p:sp>
        <p:nvSpPr>
          <p:cNvPr id="9" name="title"/>
          <p:cNvSpPr txBox="1"/>
          <p:nvPr/>
        </p:nvSpPr>
        <p:spPr>
          <a:xfrm>
            <a:off x="6583680" y="173736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400" dirty="0">
                <a:solidFill>
                  <a:srgbClr val="FFFFFF"/>
                </a:solidFill>
                <a:effectLst>
                  <a:glow rad="152400">
                    <a:srgbClr val="C80D3F">
                      <a:alpha val="35000"/>
                    </a:srgbClr>
                  </a:glo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Внешний вид</a:t>
            </a:r>
            <a:endParaRPr lang="en-US" sz="4400" dirty="0"/>
          </a:p>
        </p:txBody>
      </p:sp>
      <p:sp>
        <p:nvSpPr>
          <p:cNvPr id="10" name="body"/>
          <p:cNvSpPr txBox="1"/>
          <p:nvPr/>
        </p:nvSpPr>
        <p:spPr>
          <a:xfrm>
            <a:off x="6583680" y="292608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A7A9B4"/>
                </a:solidFill>
              </a:rPr>
              <a:t>Для традиционных скинхедов характерны короткие стрижки, подтяжки, джинсы и массивная обувь.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A7A9B4"/>
                </a:solidFill>
              </a:rPr>
              <a:t>Однако по внешнему виду нельзя точно определить взгляды человека.</a:t>
            </a:r>
            <a:endParaRPr lang="en-US" sz="1400" dirty="0"/>
          </a:p>
        </p:txBody>
      </p:sp>
      <p:sp>
        <p:nvSpPr>
          <p:cNvPr id="11" name="chip-0"/>
          <p:cNvSpPr/>
          <p:nvPr/>
        </p:nvSpPr>
        <p:spPr>
          <a:xfrm>
            <a:off x="6583680" y="4846320"/>
            <a:ext cx="2331720" cy="411480"/>
          </a:xfrm>
          <a:prstGeom prst="roundRect">
            <a:avLst>
              <a:gd name="adj" fmla="val 48889"/>
            </a:avLst>
          </a:prstGeom>
          <a:solidFill>
            <a:srgbClr val="C80D3F">
              <a:alpha val="30000"/>
            </a:srgbClr>
          </a:solidFill>
          <a:ln w="12700">
            <a:solidFill>
              <a:srgbClr val="C80D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Короткие стрижки</a:t>
            </a:r>
            <a:endParaRPr lang="en-US" sz="1200" dirty="0"/>
          </a:p>
        </p:txBody>
      </p:sp>
      <p:sp>
        <p:nvSpPr>
          <p:cNvPr id="12" name="chip-1"/>
          <p:cNvSpPr/>
          <p:nvPr/>
        </p:nvSpPr>
        <p:spPr>
          <a:xfrm>
            <a:off x="9098280" y="4846320"/>
            <a:ext cx="2331720" cy="411480"/>
          </a:xfrm>
          <a:prstGeom prst="roundRect">
            <a:avLst>
              <a:gd name="adj" fmla="val 48889"/>
            </a:avLst>
          </a:prstGeom>
          <a:solidFill>
            <a:srgbClr val="C80D3F">
              <a:alpha val="30000"/>
            </a:srgbClr>
          </a:solidFill>
          <a:ln w="12700">
            <a:solidFill>
              <a:srgbClr val="C80D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Подтяжки</a:t>
            </a:r>
            <a:endParaRPr lang="en-US" sz="1200" dirty="0"/>
          </a:p>
        </p:txBody>
      </p:sp>
      <p:sp>
        <p:nvSpPr>
          <p:cNvPr id="13" name="chip-2"/>
          <p:cNvSpPr/>
          <p:nvPr/>
        </p:nvSpPr>
        <p:spPr>
          <a:xfrm>
            <a:off x="6583680" y="5413248"/>
            <a:ext cx="2331720" cy="411480"/>
          </a:xfrm>
          <a:prstGeom prst="roundRect">
            <a:avLst>
              <a:gd name="adj" fmla="val 48889"/>
            </a:avLst>
          </a:prstGeom>
          <a:solidFill>
            <a:srgbClr val="C80D3F">
              <a:alpha val="30000"/>
            </a:srgbClr>
          </a:solidFill>
          <a:ln w="12700">
            <a:solidFill>
              <a:srgbClr val="C80D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Джинсы</a:t>
            </a:r>
            <a:endParaRPr lang="en-US" sz="1200" dirty="0"/>
          </a:p>
        </p:txBody>
      </p:sp>
      <p:sp>
        <p:nvSpPr>
          <p:cNvPr id="14" name="chip-3"/>
          <p:cNvSpPr/>
          <p:nvPr/>
        </p:nvSpPr>
        <p:spPr>
          <a:xfrm>
            <a:off x="9098280" y="5413248"/>
            <a:ext cx="2331720" cy="411480"/>
          </a:xfrm>
          <a:prstGeom prst="roundRect">
            <a:avLst>
              <a:gd name="adj" fmla="val 48889"/>
            </a:avLst>
          </a:prstGeom>
          <a:solidFill>
            <a:srgbClr val="C80D3F">
              <a:alpha val="30000"/>
            </a:srgbClr>
          </a:solidFill>
          <a:ln w="12700">
            <a:solidFill>
              <a:srgbClr val="C80D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Массивная обувь</a:t>
            </a:r>
            <a:endParaRPr lang="en-US" sz="1200" dirty="0"/>
          </a:p>
        </p:txBody>
      </p:sp>
      <p:sp>
        <p:nvSpPr>
          <p:cNvPr id="9001" name="!!Ring" descr="Светящееся кольцо"/>
          <p:cNvSpPr/>
          <p:nvPr/>
        </p:nvSpPr>
        <p:spPr>
          <a:xfrm>
            <a:off x="457200" y="1097280"/>
            <a:ext cx="4480560" cy="4480560"/>
          </a:xfrm>
          <a:prstGeom prst="ellipse">
            <a:avLst/>
          </a:prstGeom>
          <a:noFill/>
          <a:ln w="44450">
            <a:solidFill>
              <a:srgbClr val="FFFFFF"/>
            </a:solidFill>
          </a:ln>
          <a:effectLst>
            <a:glow rad="254000">
              <a:srgbClr val="C80D3F">
                <a:alpha val="60000"/>
              </a:srgbClr>
            </a:glow>
          </a:effectLst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9002" name="!!Boot3D" descr="3D-модель ботинка с высокой шнуровкой"/>
              <p:cNvGraphicFramePr>
                <a:graphicFrameLocks noGrp="1" noChangeAspect="1"/>
              </p:cNvGraphicFramePr>
              <p:nvPr/>
            </p:nvGraphicFramePr>
            <p:xfrm>
              <a:off x="860450" y="1500530"/>
              <a:ext cx="3674060" cy="3674060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860450" y="1500530"/>
                      <a:ext cx="3674060" cy="3674060"/>
                    </a:xfrm>
                    <a:prstGeom prst="rect">
                      <a:avLst/>
                    </a:prstGeom>
                    <a:effectLst>
                      <a:glow rad="127000">
                        <a:srgbClr val="E0244F">
                          <a:alpha val="30000"/>
                        </a:srgbClr>
                      </a:glow>
                    </a:effectLst>
                  </am3d:spPr>
                  <am3d:camera>
                    <am3d:pos x="0" y="0" z="5200000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2100000" az="0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36740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9002" name="!!Boot3D" descr="3D-модель ботинка с высокой шнуровкой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0450" y="1500530"/>
                <a:ext cx="3674060" cy="3674060"/>
              </a:xfrm>
              <a:prstGeom prst="rect">
                <a:avLst/>
              </a:prstGeom>
              <a:effectLst>
                <a:glow rad="127000">
                  <a:srgbClr val="E0244F">
                    <a:alpha val="30000"/>
                  </a:srgbClr>
                </a:glow>
              </a:effectLst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9012" name="!!Braces3D" descr="3D-модель подтяжек"/>
              <p:cNvGraphicFramePr>
                <a:graphicFrameLocks noGrp="1" noChangeAspect="1"/>
              </p:cNvGraphicFramePr>
              <p:nvPr/>
            </p:nvGraphicFramePr>
            <p:xfrm>
              <a:off x="3746296" y="3837736"/>
              <a:ext cx="2474368" cy="2474368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3746296" y="3837736"/>
                      <a:ext cx="2474368" cy="2474368"/>
                    </a:xfrm>
                    <a:prstGeom prst="rect">
                      <a:avLst/>
                    </a:prstGeom>
                    <a:effectLst>
                      <a:glow rad="127000">
                        <a:srgbClr val="E0244F">
                          <a:alpha val="30000"/>
                        </a:srgbClr>
                      </a:glow>
                    </a:effectLst>
                  </am3d:spPr>
                  <am3d:camera>
                    <am3d:pos x="0" y="0" z="5200000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00000" ay="2010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247436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9012" name="!!Braces3D" descr="3D-модель подтяжек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46296" y="3837736"/>
                <a:ext cx="2474368" cy="2474368"/>
              </a:xfrm>
              <a:prstGeom prst="rect">
                <a:avLst/>
              </a:prstGeom>
              <a:effectLst>
                <a:glow rad="127000">
                  <a:srgbClr val="E0244F">
                    <a:alpha val="30000"/>
                  </a:srgbClr>
                </a:glow>
              </a:effectLst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9022" name="!!Emblem3D" descr="3D-модель эмблемы Президентской академии"/>
              <p:cNvGraphicFramePr>
                <a:graphicFrameLocks noGrp="1" noChangeAspect="1"/>
              </p:cNvGraphicFramePr>
              <p:nvPr/>
            </p:nvGraphicFramePr>
            <p:xfrm>
              <a:off x="14666976" y="1408176"/>
              <a:ext cx="4498848" cy="4498848"/>
            </p:xfrm>
            <a:graphic>
              <a:graphicData uri="http://schemas.microsoft.com/office/drawing/2017/model3d">
                <am3d:model3d r:embed="rId7">
                  <am3d:spPr>
                    <a:xfrm>
                      <a:off x="14666976" y="1408176"/>
                      <a:ext cx="4498848" cy="4498848"/>
                    </a:xfrm>
                    <a:prstGeom prst="rect">
                      <a:avLst/>
                    </a:prstGeom>
                    <a:effectLst>
                      <a:glow rad="127000">
                        <a:srgbClr val="E0244F">
                          <a:alpha val="30000"/>
                        </a:srgbClr>
                      </a:glow>
                    </a:effectLst>
                  </am3d:spPr>
                  <am3d:camera>
                    <am3d:pos x="0" y="0" z="5200000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10800000" az="0"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449884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9022" name="!!Emblem3D" descr="3D-модель эмблемы Президентской академии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666976" y="1408176"/>
                <a:ext cx="4498848" cy="4498848"/>
              </a:xfrm>
              <a:prstGeom prst="rect">
                <a:avLst/>
              </a:prstGeom>
              <a:effectLst>
                <a:glow rad="127000">
                  <a:srgbClr val="E0244F">
                    <a:alpha val="30000"/>
                  </a:srgbClr>
                </a:glow>
              </a:effectLst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9032" name="!!Vinyl3D" descr="3D-модель виниловой пластинки ска"/>
              <p:cNvGraphicFramePr>
                <a:graphicFrameLocks noGrp="1" noChangeAspect="1"/>
              </p:cNvGraphicFramePr>
              <p:nvPr/>
            </p:nvGraphicFramePr>
            <p:xfrm>
              <a:off x="8641080" y="-5074920"/>
              <a:ext cx="3749040" cy="3749040"/>
            </p:xfrm>
            <a:graphic>
              <a:graphicData uri="http://schemas.microsoft.com/office/drawing/2017/model3d">
                <am3d:model3d r:embed="rId9">
                  <am3d:spPr>
                    <a:xfrm>
                      <a:off x="8641080" y="-5074920"/>
                      <a:ext cx="3749040" cy="3749040"/>
                    </a:xfrm>
                    <a:prstGeom prst="rect">
                      <a:avLst/>
                    </a:prstGeom>
                    <a:effectLst>
                      <a:glow rad="127000">
                        <a:srgbClr val="E0244F">
                          <a:alpha val="30000"/>
                        </a:srgbClr>
                      </a:glow>
                    </a:effectLst>
                  </am3d:spPr>
                  <am3d:camera>
                    <am3d:pos x="0" y="0" z="5200000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200000" ay="14400000" az="0"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37490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9032" name="!!Vinyl3D" descr="3D-модель виниловой пластинки ска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641080" y="-5074920"/>
                <a:ext cx="3749040" cy="3749040"/>
              </a:xfrm>
              <a:prstGeom prst="rect">
                <a:avLst/>
              </a:prstGeom>
              <a:effectLst>
                <a:glow rad="127000">
                  <a:srgbClr val="E0244F">
                    <a:alpha val="30000"/>
                  </a:srgbClr>
                </a:glow>
              </a:effectLst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1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2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2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2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2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2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2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2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2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12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2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2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2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2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2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2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-brand"/>
          <p:cNvSpPr txBox="1"/>
          <p:nvPr/>
        </p:nvSpPr>
        <p:spPr>
          <a:xfrm>
            <a:off x="548640" y="320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</a:rPr>
              <a:t>СКИНХЕДЫ</a:t>
            </a:r>
            <a:endParaRPr lang="en-US" sz="1000" dirty="0"/>
          </a:p>
        </p:txBody>
      </p:sp>
      <p:sp>
        <p:nvSpPr>
          <p:cNvPr id="3" name="nav-0"/>
          <p:cNvSpPr txBox="1"/>
          <p:nvPr/>
        </p:nvSpPr>
        <p:spPr>
          <a:xfrm>
            <a:off x="3108960" y="320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E7080"/>
                </a:solidFill>
              </a:rPr>
              <a:t>СУБКУЛЬТУРА</a:t>
            </a:r>
            <a:endParaRPr lang="en-US" sz="800" dirty="0"/>
          </a:p>
        </p:txBody>
      </p:sp>
      <p:sp>
        <p:nvSpPr>
          <p:cNvPr id="4" name="nav-1"/>
          <p:cNvSpPr txBox="1"/>
          <p:nvPr/>
        </p:nvSpPr>
        <p:spPr>
          <a:xfrm>
            <a:off x="4526280" y="320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E7080"/>
                </a:solidFill>
              </a:rPr>
              <a:t>ИСТОРИЯ</a:t>
            </a:r>
            <a:endParaRPr lang="en-US" sz="800" dirty="0"/>
          </a:p>
        </p:txBody>
      </p:sp>
      <p:sp>
        <p:nvSpPr>
          <p:cNvPr id="5" name="nav-2"/>
          <p:cNvSpPr txBox="1"/>
          <p:nvPr/>
        </p:nvSpPr>
        <p:spPr>
          <a:xfrm>
            <a:off x="5943600" y="320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FFFFFF"/>
                </a:solidFill>
              </a:rPr>
              <a:t>СТИЛЬ</a:t>
            </a:r>
            <a:endParaRPr lang="en-US" sz="800" dirty="0"/>
          </a:p>
        </p:txBody>
      </p:sp>
      <p:sp>
        <p:nvSpPr>
          <p:cNvPr id="6" name="nav-3"/>
          <p:cNvSpPr txBox="1"/>
          <p:nvPr/>
        </p:nvSpPr>
        <p:spPr>
          <a:xfrm>
            <a:off x="7360920" y="320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E7080"/>
                </a:solidFill>
              </a:rPr>
              <a:t>СЕГОДНЯ</a:t>
            </a:r>
            <a:endParaRPr lang="en-US" sz="800" dirty="0"/>
          </a:p>
        </p:txBody>
      </p:sp>
      <p:sp>
        <p:nvSpPr>
          <p:cNvPr id="7" name="nav-num"/>
          <p:cNvSpPr txBox="1"/>
          <p:nvPr/>
        </p:nvSpPr>
        <p:spPr>
          <a:xfrm>
            <a:off x="11064240" y="320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9B4"/>
                </a:solidFill>
              </a:rPr>
              <a:t>07</a:t>
            </a:r>
            <a:endParaRPr lang="en-US" sz="900" dirty="0"/>
          </a:p>
        </p:txBody>
      </p:sp>
      <p:sp>
        <p:nvSpPr>
          <p:cNvPr id="8" name="kicker"/>
          <p:cNvSpPr txBox="1"/>
          <p:nvPr/>
        </p:nvSpPr>
        <p:spPr>
          <a:xfrm>
            <a:off x="54864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E0244F"/>
                </a:solidFill>
              </a:rPr>
              <a:t>ТЕКСТ 3</a:t>
            </a:r>
            <a:endParaRPr lang="en-US" sz="900" dirty="0"/>
          </a:p>
        </p:txBody>
      </p:sp>
      <p:sp>
        <p:nvSpPr>
          <p:cNvPr id="9" name="title"/>
          <p:cNvSpPr txBox="1"/>
          <p:nvPr/>
        </p:nvSpPr>
        <p:spPr>
          <a:xfrm>
            <a:off x="548640" y="1737360"/>
            <a:ext cx="5943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dirty="0">
                <a:solidFill>
                  <a:srgbClr val="FFFFFF"/>
                </a:solidFill>
                <a:effectLst>
                  <a:glow rad="152400">
                    <a:srgbClr val="C80D3F">
                      <a:alpha val="35000"/>
                    </a:srgbClr>
                  </a:glo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Взгляды внутри</a:t>
            </a:r>
            <a:endParaRPr lang="en-US" sz="4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000" dirty="0">
                <a:solidFill>
                  <a:srgbClr val="FFFFFF"/>
                </a:solidFill>
                <a:effectLst>
                  <a:glow rad="152400">
                    <a:srgbClr val="C80D3F">
                      <a:alpha val="35000"/>
                    </a:srgbClr>
                  </a:glo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субкультуры</a:t>
            </a:r>
            <a:endParaRPr lang="en-US" sz="4000" dirty="0"/>
          </a:p>
        </p:txBody>
      </p:sp>
      <p:sp>
        <p:nvSpPr>
          <p:cNvPr id="10" name="body"/>
          <p:cNvSpPr txBox="1"/>
          <p:nvPr/>
        </p:nvSpPr>
        <p:spPr>
          <a:xfrm>
            <a:off x="548640" y="3566160"/>
            <a:ext cx="5486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A7A9B4"/>
                </a:solidFill>
              </a:rPr>
              <a:t>Внутри субкультуры существуют разные группы: от аполитичных участников до антирасистских и крайне правых объединений.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A7A9B4"/>
                </a:solidFill>
              </a:rPr>
              <a:t>Некоторые радикальные группы пропагандируют расизм, национализм и насилие.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A7A9B4"/>
                </a:solidFill>
              </a:rPr>
              <a:t>Поэтому важно различать саму субкультуру и конкретные организации, которые придерживаются экстремистских идей.</a:t>
            </a:r>
            <a:endParaRPr lang="en-US" sz="1400" dirty="0"/>
          </a:p>
        </p:txBody>
      </p:sp>
      <p:sp>
        <p:nvSpPr>
          <p:cNvPr id="9001" name="!!Ring" descr="Светящееся кольцо"/>
          <p:cNvSpPr/>
          <p:nvPr/>
        </p:nvSpPr>
        <p:spPr>
          <a:xfrm>
            <a:off x="6949440" y="914400"/>
            <a:ext cx="5120640" cy="5120640"/>
          </a:xfrm>
          <a:prstGeom prst="ellipse">
            <a:avLst/>
          </a:prstGeom>
          <a:noFill/>
          <a:ln w="44450">
            <a:solidFill>
              <a:srgbClr val="FFFFFF"/>
            </a:solidFill>
          </a:ln>
          <a:effectLst>
            <a:glow rad="254000">
              <a:srgbClr val="C80D3F">
                <a:alpha val="60000"/>
              </a:srgbClr>
            </a:glow>
          </a:effectLst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9002" name="!!Emblem3D" descr="3D-модель эмблемы Президентской академии"/>
              <p:cNvGraphicFramePr>
                <a:graphicFrameLocks noGrp="1" noChangeAspect="1"/>
              </p:cNvGraphicFramePr>
              <p:nvPr/>
            </p:nvGraphicFramePr>
            <p:xfrm>
              <a:off x="7410297" y="1375257"/>
              <a:ext cx="4198926" cy="4198926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7410297" y="1375257"/>
                      <a:ext cx="4198926" cy="4198926"/>
                    </a:xfrm>
                    <a:prstGeom prst="rect">
                      <a:avLst/>
                    </a:prstGeom>
                    <a:effectLst>
                      <a:glow rad="127000">
                        <a:srgbClr val="E0244F">
                          <a:alpha val="30000"/>
                        </a:srgbClr>
                      </a:glow>
                    </a:effectLst>
                  </am3d:spPr>
                  <am3d:camera>
                    <am3d:pos x="0" y="0" z="5200000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1200000" az="0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419892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9002" name="!!Emblem3D" descr="3D-модель эмблемы Президентской академии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10297" y="1375257"/>
                <a:ext cx="4198926" cy="4198926"/>
              </a:xfrm>
              <a:prstGeom prst="rect">
                <a:avLst/>
              </a:prstGeom>
              <a:effectLst>
                <a:glow rad="127000">
                  <a:srgbClr val="E0244F">
                    <a:alpha val="30000"/>
                  </a:srgbClr>
                </a:glow>
              </a:effectLst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9012" name="!!Boot3D" descr="3D-модель ботинка с высокой шнуровкой"/>
              <p:cNvGraphicFramePr>
                <a:graphicFrameLocks noGrp="1" noChangeAspect="1"/>
              </p:cNvGraphicFramePr>
              <p:nvPr/>
            </p:nvGraphicFramePr>
            <p:xfrm>
              <a:off x="13903452" y="4942332"/>
              <a:ext cx="3374136" cy="3374136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13903452" y="4942332"/>
                      <a:ext cx="3374136" cy="3374136"/>
                    </a:xfrm>
                    <a:prstGeom prst="rect">
                      <a:avLst/>
                    </a:prstGeom>
                    <a:effectLst>
                      <a:glow rad="127000">
                        <a:srgbClr val="E0244F">
                          <a:alpha val="30000"/>
                        </a:srgbClr>
                      </a:glow>
                    </a:effectLst>
                  </am3d:spPr>
                  <am3d:camera>
                    <am3d:pos x="0" y="0" z="5200000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2400000" ay="9600000" az="1800000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337413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9012" name="!!Boot3D" descr="3D-модель ботинка с высокой шнуровкой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903452" y="4942332"/>
                <a:ext cx="3374136" cy="3374136"/>
              </a:xfrm>
              <a:prstGeom prst="rect">
                <a:avLst/>
              </a:prstGeom>
              <a:effectLst>
                <a:glow rad="127000">
                  <a:srgbClr val="E0244F">
                    <a:alpha val="30000"/>
                  </a:srgbClr>
                </a:glow>
              </a:effectLst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9022" name="!!Braces3D" descr="3D-модель подтяжек"/>
              <p:cNvGraphicFramePr>
                <a:graphicFrameLocks noGrp="1" noChangeAspect="1"/>
              </p:cNvGraphicFramePr>
              <p:nvPr/>
            </p:nvGraphicFramePr>
            <p:xfrm>
              <a:off x="-4242816" y="5358384"/>
              <a:ext cx="2999232" cy="2999232"/>
            </p:xfrm>
            <a:graphic>
              <a:graphicData uri="http://schemas.microsoft.com/office/drawing/2017/model3d">
                <am3d:model3d r:embed="rId7">
                  <am3d:spPr>
                    <a:xfrm>
                      <a:off x="-4242816" y="5358384"/>
                      <a:ext cx="2999232" cy="2999232"/>
                    </a:xfrm>
                    <a:prstGeom prst="rect">
                      <a:avLst/>
                    </a:prstGeom>
                    <a:effectLst>
                      <a:glow rad="127000">
                        <a:srgbClr val="E0244F">
                          <a:alpha val="30000"/>
                        </a:srgbClr>
                      </a:glow>
                    </a:effectLst>
                  </am3d:spPr>
                  <am3d:camera>
                    <am3d:pos x="0" y="0" z="5200000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9800000" ay="12000000" az="20400000"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299923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9022" name="!!Braces3D" descr="3D-модель подтяжек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4242816" y="5358384"/>
                <a:ext cx="2999232" cy="2999232"/>
              </a:xfrm>
              <a:prstGeom prst="rect">
                <a:avLst/>
              </a:prstGeom>
              <a:effectLst>
                <a:glow rad="127000">
                  <a:srgbClr val="E0244F">
                    <a:alpha val="30000"/>
                  </a:srgbClr>
                </a:glow>
              </a:effectLst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9032" name="!!Vinyl3D" descr="3D-модель виниловой пластинки ска"/>
              <p:cNvGraphicFramePr>
                <a:graphicFrameLocks noGrp="1" noChangeAspect="1"/>
              </p:cNvGraphicFramePr>
              <p:nvPr/>
            </p:nvGraphicFramePr>
            <p:xfrm>
              <a:off x="8641080" y="-5074920"/>
              <a:ext cx="3749040" cy="3749040"/>
            </p:xfrm>
            <a:graphic>
              <a:graphicData uri="http://schemas.microsoft.com/office/drawing/2017/model3d">
                <am3d:model3d r:embed="rId9">
                  <am3d:spPr>
                    <a:xfrm>
                      <a:off x="8641080" y="-5074920"/>
                      <a:ext cx="3749040" cy="3749040"/>
                    </a:xfrm>
                    <a:prstGeom prst="rect">
                      <a:avLst/>
                    </a:prstGeom>
                    <a:effectLst>
                      <a:glow rad="127000">
                        <a:srgbClr val="E0244F">
                          <a:alpha val="30000"/>
                        </a:srgbClr>
                      </a:glow>
                    </a:effectLst>
                  </am3d:spPr>
                  <am3d:camera>
                    <am3d:pos x="0" y="0" z="5200000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200000" ay="14400000" az="0"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37490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9032" name="!!Vinyl3D" descr="3D-модель виниловой пластинки ска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641080" y="-5074920"/>
                <a:ext cx="3749040" cy="3749040"/>
              </a:xfrm>
              <a:prstGeom prst="rect">
                <a:avLst/>
              </a:prstGeom>
              <a:effectLst>
                <a:glow rad="127000">
                  <a:srgbClr val="E0244F">
                    <a:alpha val="30000"/>
                  </a:srgbClr>
                </a:glow>
              </a:effectLst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1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2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2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2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2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2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2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-brand"/>
          <p:cNvSpPr txBox="1"/>
          <p:nvPr/>
        </p:nvSpPr>
        <p:spPr>
          <a:xfrm>
            <a:off x="548640" y="320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</a:rPr>
              <a:t>СКИНХЕДЫ</a:t>
            </a:r>
            <a:endParaRPr lang="en-US" sz="1000" dirty="0"/>
          </a:p>
        </p:txBody>
      </p:sp>
      <p:sp>
        <p:nvSpPr>
          <p:cNvPr id="3" name="nav-0"/>
          <p:cNvSpPr txBox="1"/>
          <p:nvPr/>
        </p:nvSpPr>
        <p:spPr>
          <a:xfrm>
            <a:off x="3108960" y="320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E7080"/>
                </a:solidFill>
              </a:rPr>
              <a:t>СУБКУЛЬТУРА</a:t>
            </a:r>
            <a:endParaRPr lang="en-US" sz="800" dirty="0"/>
          </a:p>
        </p:txBody>
      </p:sp>
      <p:sp>
        <p:nvSpPr>
          <p:cNvPr id="4" name="nav-1"/>
          <p:cNvSpPr txBox="1"/>
          <p:nvPr/>
        </p:nvSpPr>
        <p:spPr>
          <a:xfrm>
            <a:off x="4526280" y="320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E7080"/>
                </a:solidFill>
              </a:rPr>
              <a:t>ИСТОРИЯ</a:t>
            </a:r>
            <a:endParaRPr lang="en-US" sz="800" dirty="0"/>
          </a:p>
        </p:txBody>
      </p:sp>
      <p:sp>
        <p:nvSpPr>
          <p:cNvPr id="5" name="nav-2"/>
          <p:cNvSpPr txBox="1"/>
          <p:nvPr/>
        </p:nvSpPr>
        <p:spPr>
          <a:xfrm>
            <a:off x="5943600" y="320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E7080"/>
                </a:solidFill>
              </a:rPr>
              <a:t>СТИЛЬ</a:t>
            </a:r>
            <a:endParaRPr lang="en-US" sz="800" dirty="0"/>
          </a:p>
        </p:txBody>
      </p:sp>
      <p:sp>
        <p:nvSpPr>
          <p:cNvPr id="6" name="nav-3"/>
          <p:cNvSpPr txBox="1"/>
          <p:nvPr/>
        </p:nvSpPr>
        <p:spPr>
          <a:xfrm>
            <a:off x="7360920" y="320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FFFFFF"/>
                </a:solidFill>
              </a:rPr>
              <a:t>СЕГОДНЯ</a:t>
            </a:r>
            <a:endParaRPr lang="en-US" sz="800" dirty="0"/>
          </a:p>
        </p:txBody>
      </p:sp>
      <p:sp>
        <p:nvSpPr>
          <p:cNvPr id="7" name="nav-num"/>
          <p:cNvSpPr txBox="1"/>
          <p:nvPr/>
        </p:nvSpPr>
        <p:spPr>
          <a:xfrm>
            <a:off x="11064240" y="320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9B4"/>
                </a:solidFill>
              </a:rPr>
              <a:t>08</a:t>
            </a:r>
            <a:endParaRPr lang="en-US" sz="900" dirty="0"/>
          </a:p>
        </p:txBody>
      </p:sp>
      <p:sp>
        <p:nvSpPr>
          <p:cNvPr id="8" name="kicker"/>
          <p:cNvSpPr txBox="1"/>
          <p:nvPr/>
        </p:nvSpPr>
        <p:spPr>
          <a:xfrm>
            <a:off x="54864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E0244F"/>
                </a:solidFill>
              </a:rPr>
              <a:t>ТЕКСТ 4</a:t>
            </a:r>
            <a:endParaRPr lang="en-US" sz="900" dirty="0"/>
          </a:p>
        </p:txBody>
      </p:sp>
      <p:sp>
        <p:nvSpPr>
          <p:cNvPr id="9" name="title"/>
          <p:cNvSpPr txBox="1"/>
          <p:nvPr/>
        </p:nvSpPr>
        <p:spPr>
          <a:xfrm>
            <a:off x="548640" y="173736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dirty="0">
                <a:solidFill>
                  <a:srgbClr val="FFFFFF"/>
                </a:solidFill>
                <a:effectLst>
                  <a:glow rad="152400">
                    <a:srgbClr val="C80D3F">
                      <a:alpha val="35000"/>
                    </a:srgbClr>
                  </a:glo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Скинхеды</a:t>
            </a:r>
            <a:endParaRPr lang="en-US" sz="4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000" dirty="0">
                <a:solidFill>
                  <a:srgbClr val="FFFFFF"/>
                </a:solidFill>
                <a:effectLst>
                  <a:glow rad="152400">
                    <a:srgbClr val="C80D3F">
                      <a:alpha val="35000"/>
                    </a:srgbClr>
                  </a:glo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в современном мире</a:t>
            </a:r>
            <a:endParaRPr lang="en-US" sz="4000" dirty="0"/>
          </a:p>
        </p:txBody>
      </p:sp>
      <p:sp>
        <p:nvSpPr>
          <p:cNvPr id="10" name="body"/>
          <p:cNvSpPr txBox="1"/>
          <p:nvPr/>
        </p:nvSpPr>
        <p:spPr>
          <a:xfrm>
            <a:off x="548640" y="3566160"/>
            <a:ext cx="5486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A7A9B4"/>
                </a:solidFill>
              </a:rPr>
              <a:t>Сегодня скинхед-культура существует в разных странах и продолжает развиваться.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A7A9B4"/>
                </a:solidFill>
              </a:rPr>
              <a:t>Некоторые её представители интересуются музыкой, историей и стилем одежды, другие участвуют в политических движениях.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A7A9B4"/>
                </a:solidFill>
              </a:rPr>
              <a:t>Радикальные группировки, связанные с ненавистью и насилием, могут представлять опасность для общества.</a:t>
            </a:r>
            <a:endParaRPr lang="en-US" sz="1400" dirty="0"/>
          </a:p>
        </p:txBody>
      </p:sp>
      <p:sp>
        <p:nvSpPr>
          <p:cNvPr id="9001" name="!!Ring" descr="Светящееся кольцо"/>
          <p:cNvSpPr/>
          <p:nvPr/>
        </p:nvSpPr>
        <p:spPr>
          <a:xfrm>
            <a:off x="6766560" y="731520"/>
            <a:ext cx="4206240" cy="4206240"/>
          </a:xfrm>
          <a:prstGeom prst="ellipse">
            <a:avLst/>
          </a:prstGeom>
          <a:noFill/>
          <a:ln w="44450">
            <a:solidFill>
              <a:srgbClr val="FFFFFF"/>
            </a:solidFill>
          </a:ln>
          <a:effectLst>
            <a:glow rad="254000">
              <a:srgbClr val="C80D3F">
                <a:alpha val="60000"/>
              </a:srgbClr>
            </a:glow>
          </a:effectLst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9002" name="!!Vinyl3D" descr="3D-модель виниловой пластинки ска"/>
              <p:cNvGraphicFramePr>
                <a:graphicFrameLocks noGrp="1" noChangeAspect="1"/>
              </p:cNvGraphicFramePr>
              <p:nvPr/>
            </p:nvGraphicFramePr>
            <p:xfrm>
              <a:off x="7145121" y="1110081"/>
              <a:ext cx="3449118" cy="3449118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7145121" y="1110081"/>
                      <a:ext cx="3449118" cy="3449118"/>
                    </a:xfrm>
                    <a:prstGeom prst="rect">
                      <a:avLst/>
                    </a:prstGeom>
                    <a:effectLst>
                      <a:glow rad="127000">
                        <a:srgbClr val="E0244F">
                          <a:alpha val="30000"/>
                        </a:srgbClr>
                      </a:glow>
                    </a:effectLst>
                  </am3d:spPr>
                  <am3d:camera>
                    <am3d:pos x="0" y="0" z="5200000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20100000" ay="20100000" az="0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344911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9002" name="!!Vinyl3D" descr="3D-модель виниловой пластинки ска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45121" y="1110081"/>
                <a:ext cx="3449118" cy="3449118"/>
              </a:xfrm>
              <a:prstGeom prst="rect">
                <a:avLst/>
              </a:prstGeom>
              <a:effectLst>
                <a:glow rad="127000">
                  <a:srgbClr val="E0244F">
                    <a:alpha val="30000"/>
                  </a:srgbClr>
                </a:glow>
              </a:effectLst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9012" name="!!Boot3D" descr="3D-модель ботинка с высокой шнуровкой"/>
              <p:cNvGraphicFramePr>
                <a:graphicFrameLocks noGrp="1" noChangeAspect="1"/>
              </p:cNvGraphicFramePr>
              <p:nvPr/>
            </p:nvGraphicFramePr>
            <p:xfrm>
              <a:off x="9107424" y="3255264"/>
              <a:ext cx="2999232" cy="2999232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9107424" y="3255264"/>
                      <a:ext cx="2999232" cy="2999232"/>
                    </a:xfrm>
                    <a:prstGeom prst="rect">
                      <a:avLst/>
                    </a:prstGeom>
                    <a:effectLst>
                      <a:glow rad="127000">
                        <a:srgbClr val="E0244F">
                          <a:alpha val="30000"/>
                        </a:srgbClr>
                      </a:glow>
                    </a:effectLst>
                  </am3d:spPr>
                  <am3d:camera>
                    <am3d:pos x="0" y="0" z="5200000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1920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299923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9012" name="!!Boot3D" descr="3D-модель ботинка с высокой шнуровкой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107424" y="3255264"/>
                <a:ext cx="2999232" cy="2999232"/>
              </a:xfrm>
              <a:prstGeom prst="rect">
                <a:avLst/>
              </a:prstGeom>
              <a:effectLst>
                <a:glow rad="127000">
                  <a:srgbClr val="E0244F">
                    <a:alpha val="30000"/>
                  </a:srgbClr>
                </a:glow>
              </a:effectLst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9022" name="!!Emblem3D" descr="3D-модель эмблемы Президентской академии"/>
              <p:cNvGraphicFramePr>
                <a:graphicFrameLocks noGrp="1" noChangeAspect="1"/>
              </p:cNvGraphicFramePr>
              <p:nvPr/>
            </p:nvGraphicFramePr>
            <p:xfrm>
              <a:off x="14666976" y="1408176"/>
              <a:ext cx="4498848" cy="4498848"/>
            </p:xfrm>
            <a:graphic>
              <a:graphicData uri="http://schemas.microsoft.com/office/drawing/2017/model3d">
                <am3d:model3d r:embed="rId7">
                  <am3d:spPr>
                    <a:xfrm>
                      <a:off x="14666976" y="1408176"/>
                      <a:ext cx="4498848" cy="4498848"/>
                    </a:xfrm>
                    <a:prstGeom prst="rect">
                      <a:avLst/>
                    </a:prstGeom>
                    <a:effectLst>
                      <a:glow rad="127000">
                        <a:srgbClr val="E0244F">
                          <a:alpha val="30000"/>
                        </a:srgbClr>
                      </a:glow>
                    </a:effectLst>
                  </am3d:spPr>
                  <am3d:camera>
                    <am3d:pos x="0" y="0" z="5200000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10800000" az="0"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449884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9022" name="!!Emblem3D" descr="3D-модель эмблемы Президентской академии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666976" y="1408176"/>
                <a:ext cx="4498848" cy="4498848"/>
              </a:xfrm>
              <a:prstGeom prst="rect">
                <a:avLst/>
              </a:prstGeom>
              <a:effectLst>
                <a:glow rad="127000">
                  <a:srgbClr val="E0244F">
                    <a:alpha val="30000"/>
                  </a:srgbClr>
                </a:glow>
              </a:effectLst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9032" name="!!Braces3D" descr="3D-модель подтяжек"/>
              <p:cNvGraphicFramePr>
                <a:graphicFrameLocks noGrp="1" noChangeAspect="1"/>
              </p:cNvGraphicFramePr>
              <p:nvPr/>
            </p:nvGraphicFramePr>
            <p:xfrm>
              <a:off x="-4242816" y="5358384"/>
              <a:ext cx="2999232" cy="2999232"/>
            </p:xfrm>
            <a:graphic>
              <a:graphicData uri="http://schemas.microsoft.com/office/drawing/2017/model3d">
                <am3d:model3d r:embed="rId9">
                  <am3d:spPr>
                    <a:xfrm>
                      <a:off x="-4242816" y="5358384"/>
                      <a:ext cx="2999232" cy="2999232"/>
                    </a:xfrm>
                    <a:prstGeom prst="rect">
                      <a:avLst/>
                    </a:prstGeom>
                    <a:effectLst>
                      <a:glow rad="127000">
                        <a:srgbClr val="E0244F">
                          <a:alpha val="30000"/>
                        </a:srgbClr>
                      </a:glow>
                    </a:effectLst>
                  </am3d:spPr>
                  <am3d:camera>
                    <am3d:pos x="0" y="0" z="5200000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9800000" ay="12000000" az="20400000"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299923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9032" name="!!Braces3D" descr="3D-модель подтяжек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4242816" y="5358384"/>
                <a:ext cx="2999232" cy="2999232"/>
              </a:xfrm>
              <a:prstGeom prst="rect">
                <a:avLst/>
              </a:prstGeom>
              <a:effectLst>
                <a:glow rad="127000">
                  <a:srgbClr val="E0244F">
                    <a:alpha val="30000"/>
                  </a:srgbClr>
                </a:glow>
              </a:effectLst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1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2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2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2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2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2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2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-brand"/>
          <p:cNvSpPr txBox="1"/>
          <p:nvPr/>
        </p:nvSpPr>
        <p:spPr>
          <a:xfrm>
            <a:off x="548640" y="320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</a:rPr>
              <a:t>СКИНХЕДЫ</a:t>
            </a:r>
            <a:endParaRPr lang="en-US" sz="1000" dirty="0"/>
          </a:p>
        </p:txBody>
      </p:sp>
      <p:sp>
        <p:nvSpPr>
          <p:cNvPr id="3" name="nav-0"/>
          <p:cNvSpPr txBox="1"/>
          <p:nvPr/>
        </p:nvSpPr>
        <p:spPr>
          <a:xfrm>
            <a:off x="3108960" y="320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E7080"/>
                </a:solidFill>
              </a:rPr>
              <a:t>СУБКУЛЬТУРА</a:t>
            </a:r>
            <a:endParaRPr lang="en-US" sz="800" dirty="0"/>
          </a:p>
        </p:txBody>
      </p:sp>
      <p:sp>
        <p:nvSpPr>
          <p:cNvPr id="4" name="nav-1"/>
          <p:cNvSpPr txBox="1"/>
          <p:nvPr/>
        </p:nvSpPr>
        <p:spPr>
          <a:xfrm>
            <a:off x="4526280" y="320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E7080"/>
                </a:solidFill>
              </a:rPr>
              <a:t>ИСТОРИЯ</a:t>
            </a:r>
            <a:endParaRPr lang="en-US" sz="800" dirty="0"/>
          </a:p>
        </p:txBody>
      </p:sp>
      <p:sp>
        <p:nvSpPr>
          <p:cNvPr id="5" name="nav-2"/>
          <p:cNvSpPr txBox="1"/>
          <p:nvPr/>
        </p:nvSpPr>
        <p:spPr>
          <a:xfrm>
            <a:off x="5943600" y="320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E7080"/>
                </a:solidFill>
              </a:rPr>
              <a:t>СТИЛЬ</a:t>
            </a:r>
            <a:endParaRPr lang="en-US" sz="800" dirty="0"/>
          </a:p>
        </p:txBody>
      </p:sp>
      <p:sp>
        <p:nvSpPr>
          <p:cNvPr id="6" name="nav-3"/>
          <p:cNvSpPr txBox="1"/>
          <p:nvPr/>
        </p:nvSpPr>
        <p:spPr>
          <a:xfrm>
            <a:off x="7360920" y="320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FFFFFF"/>
                </a:solidFill>
              </a:rPr>
              <a:t>СЕГОДНЯ</a:t>
            </a:r>
            <a:endParaRPr lang="en-US" sz="800" dirty="0"/>
          </a:p>
        </p:txBody>
      </p:sp>
      <p:sp>
        <p:nvSpPr>
          <p:cNvPr id="7" name="nav-num"/>
          <p:cNvSpPr txBox="1"/>
          <p:nvPr/>
        </p:nvSpPr>
        <p:spPr>
          <a:xfrm>
            <a:off x="11064240" y="320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9B4"/>
                </a:solidFill>
              </a:rPr>
              <a:t>09</a:t>
            </a:r>
            <a:endParaRPr lang="en-US" sz="900" dirty="0"/>
          </a:p>
        </p:txBody>
      </p:sp>
      <p:sp>
        <p:nvSpPr>
          <p:cNvPr id="8" name="kicker"/>
          <p:cNvSpPr txBox="1"/>
          <p:nvPr/>
        </p:nvSpPr>
        <p:spPr>
          <a:xfrm>
            <a:off x="54864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E0244F"/>
                </a:solidFill>
              </a:rPr>
              <a:t>ТЕКСТ 4 · ВЫВОД</a:t>
            </a:r>
            <a:endParaRPr lang="en-US" sz="900" dirty="0"/>
          </a:p>
        </p:txBody>
      </p:sp>
      <p:sp>
        <p:nvSpPr>
          <p:cNvPr id="9" name="title"/>
          <p:cNvSpPr txBox="1"/>
          <p:nvPr/>
        </p:nvSpPr>
        <p:spPr>
          <a:xfrm>
            <a:off x="548640" y="1828800"/>
            <a:ext cx="6217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rgbClr val="FFFFFF"/>
                </a:solidFill>
                <a:effectLst>
                  <a:glow rad="152400">
                    <a:srgbClr val="C80D3F">
                      <a:alpha val="35000"/>
                    </a:srgbClr>
                  </a:glo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«Изучение истории скинхедов помогает понять, как молодёжные субкультуры формируются, меняются и иногда становятся инструментом распространения экстремистских идей»</a:t>
            </a:r>
            <a:endParaRPr lang="en-US" sz="2800" dirty="0"/>
          </a:p>
        </p:txBody>
      </p:sp>
      <p:sp>
        <p:nvSpPr>
          <p:cNvPr id="9001" name="!!Ring" descr="Светящееся кольцо"/>
          <p:cNvSpPr/>
          <p:nvPr/>
        </p:nvSpPr>
        <p:spPr>
          <a:xfrm>
            <a:off x="7132320" y="822960"/>
            <a:ext cx="4937760" cy="4937760"/>
          </a:xfrm>
          <a:prstGeom prst="ellipse">
            <a:avLst/>
          </a:prstGeom>
          <a:noFill/>
          <a:ln w="44450">
            <a:solidFill>
              <a:srgbClr val="FFFFFF"/>
            </a:solidFill>
          </a:ln>
          <a:effectLst>
            <a:glow rad="254000">
              <a:srgbClr val="C80D3F">
                <a:alpha val="60000"/>
              </a:srgbClr>
            </a:glow>
          </a:effectLst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9002" name="!!Emblem3D" descr="3D-модель эмблемы Президентской академии"/>
              <p:cNvGraphicFramePr>
                <a:graphicFrameLocks noGrp="1" noChangeAspect="1"/>
              </p:cNvGraphicFramePr>
              <p:nvPr/>
            </p:nvGraphicFramePr>
            <p:xfrm>
              <a:off x="7576718" y="1267358"/>
              <a:ext cx="4048964" cy="4048964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7576718" y="1267358"/>
                      <a:ext cx="4048964" cy="4048964"/>
                    </a:xfrm>
                    <a:prstGeom prst="rect">
                      <a:avLst/>
                    </a:prstGeom>
                    <a:effectLst>
                      <a:glow rad="127000">
                        <a:srgbClr val="E0244F">
                          <a:alpha val="30000"/>
                        </a:srgbClr>
                      </a:glow>
                    </a:effectLst>
                  </am3d:spPr>
                  <am3d:camera>
                    <am3d:pos x="0" y="0" z="5200000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0" az="0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404896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9002" name="!!Emblem3D" descr="3D-модель эмблемы Президентской академии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76718" y="1267358"/>
                <a:ext cx="4048964" cy="4048964"/>
              </a:xfrm>
              <a:prstGeom prst="rect">
                <a:avLst/>
              </a:prstGeom>
              <a:effectLst>
                <a:glow rad="127000">
                  <a:srgbClr val="E0244F">
                    <a:alpha val="30000"/>
                  </a:srgbClr>
                </a:glow>
              </a:effectLst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9012" name="!!Boot3D" descr="3D-модель ботинка с высокой шнуровкой"/>
              <p:cNvGraphicFramePr>
                <a:graphicFrameLocks noGrp="1" noChangeAspect="1"/>
              </p:cNvGraphicFramePr>
              <p:nvPr/>
            </p:nvGraphicFramePr>
            <p:xfrm>
              <a:off x="13903452" y="4942332"/>
              <a:ext cx="3374136" cy="3374136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13903452" y="4942332"/>
                      <a:ext cx="3374136" cy="3374136"/>
                    </a:xfrm>
                    <a:prstGeom prst="rect">
                      <a:avLst/>
                    </a:prstGeom>
                    <a:effectLst>
                      <a:glow rad="127000">
                        <a:srgbClr val="E0244F">
                          <a:alpha val="30000"/>
                        </a:srgbClr>
                      </a:glow>
                    </a:effectLst>
                  </am3d:spPr>
                  <am3d:camera>
                    <am3d:pos x="0" y="0" z="5200000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2400000" ay="9600000" az="1800000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337413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9012" name="!!Boot3D" descr="3D-модель ботинка с высокой шнуровкой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903452" y="4942332"/>
                <a:ext cx="3374136" cy="3374136"/>
              </a:xfrm>
              <a:prstGeom prst="rect">
                <a:avLst/>
              </a:prstGeom>
              <a:effectLst>
                <a:glow rad="127000">
                  <a:srgbClr val="E0244F">
                    <a:alpha val="30000"/>
                  </a:srgbClr>
                </a:glow>
              </a:effectLst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9022" name="!!Braces3D" descr="3D-модель подтяжек"/>
              <p:cNvGraphicFramePr>
                <a:graphicFrameLocks noGrp="1" noChangeAspect="1"/>
              </p:cNvGraphicFramePr>
              <p:nvPr/>
            </p:nvGraphicFramePr>
            <p:xfrm>
              <a:off x="-4242816" y="5358384"/>
              <a:ext cx="2999232" cy="2999232"/>
            </p:xfrm>
            <a:graphic>
              <a:graphicData uri="http://schemas.microsoft.com/office/drawing/2017/model3d">
                <am3d:model3d r:embed="rId7">
                  <am3d:spPr>
                    <a:xfrm>
                      <a:off x="-4242816" y="5358384"/>
                      <a:ext cx="2999232" cy="2999232"/>
                    </a:xfrm>
                    <a:prstGeom prst="rect">
                      <a:avLst/>
                    </a:prstGeom>
                    <a:effectLst>
                      <a:glow rad="127000">
                        <a:srgbClr val="E0244F">
                          <a:alpha val="30000"/>
                        </a:srgbClr>
                      </a:glow>
                    </a:effectLst>
                  </am3d:spPr>
                  <am3d:camera>
                    <am3d:pos x="0" y="0" z="5200000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9800000" ay="12000000" az="20400000"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299923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9022" name="!!Braces3D" descr="3D-модель подтяжек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4242816" y="5358384"/>
                <a:ext cx="2999232" cy="2999232"/>
              </a:xfrm>
              <a:prstGeom prst="rect">
                <a:avLst/>
              </a:prstGeom>
              <a:effectLst>
                <a:glow rad="127000">
                  <a:srgbClr val="E0244F">
                    <a:alpha val="30000"/>
                  </a:srgbClr>
                </a:glow>
              </a:effectLst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9032" name="!!Vinyl3D" descr="3D-модель виниловой пластинки ска"/>
              <p:cNvGraphicFramePr>
                <a:graphicFrameLocks noGrp="1" noChangeAspect="1"/>
              </p:cNvGraphicFramePr>
              <p:nvPr/>
            </p:nvGraphicFramePr>
            <p:xfrm>
              <a:off x="8641080" y="-5074920"/>
              <a:ext cx="3749040" cy="3749040"/>
            </p:xfrm>
            <a:graphic>
              <a:graphicData uri="http://schemas.microsoft.com/office/drawing/2017/model3d">
                <am3d:model3d r:embed="rId9">
                  <am3d:spPr>
                    <a:xfrm>
                      <a:off x="8641080" y="-5074920"/>
                      <a:ext cx="3749040" cy="3749040"/>
                    </a:xfrm>
                    <a:prstGeom prst="rect">
                      <a:avLst/>
                    </a:prstGeom>
                    <a:effectLst>
                      <a:glow rad="127000">
                        <a:srgbClr val="E0244F">
                          <a:alpha val="30000"/>
                        </a:srgbClr>
                      </a:glow>
                    </a:effectLst>
                  </am3d:spPr>
                  <am3d:camera>
                    <am3d:pos x="0" y="0" z="5200000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200000" ay="14400000" az="0"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37490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9032" name="!!Vinyl3D" descr="3D-модель виниловой пластинки ска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641080" y="-5074920"/>
                <a:ext cx="3749040" cy="3749040"/>
              </a:xfrm>
              <a:prstGeom prst="rect">
                <a:avLst/>
              </a:prstGeom>
              <a:effectLst>
                <a:glow rad="127000">
                  <a:srgbClr val="E0244F">
                    <a:alpha val="30000"/>
                  </a:srgbClr>
                </a:glow>
              </a:effectLst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1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2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2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2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2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Скинхеды</dc:title>
  <dc:subject>PptxGenJS Presentation</dc:subject>
  <dc:creator>PptxGenJS</dc:creator>
  <cp:lastModifiedBy>PptxGenJS</cp:lastModifiedBy>
  <cp:revision>1</cp:revision>
  <dcterms:created xsi:type="dcterms:W3CDTF">2026-10-20T14:58:28Z</dcterms:created>
  <dcterms:modified xsi:type="dcterms:W3CDTF">2026-10-20T14:58:28Z</dcterms:modified>
</cp:coreProperties>
</file>